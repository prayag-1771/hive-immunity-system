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c82593b1-fb4b-5b4b-eeb2-a2f80ccd5ca0}">
          <p14:sldIdLst>
            <p14:sldId id="256"/>
            <p14:sldId id="257"/>
            <p14:sldId id="258"/>
          </p14:sldIdLst>
        </p14:section>
        <p14:section name="Solution" id="{60bebc11-abe6-3132-762c-268e595b1848}">
          <p14:sldIdLst>
            <p14:sldId id="259"/>
            <p14:sldId id="260"/>
            <p14:sldId id="261"/>
            <p14:sldId id="262"/>
          </p14:sldIdLst>
        </p14:section>
        <p14:section name="Proof" id="{1c0be5fc-a059-b151-8456-f0ff202aa0f1}">
          <p14:sldIdLst>
            <p14:sldId id="263"/>
            <p14:sldId id="264"/>
          </p14:sldIdLst>
        </p14:section>
        <p14:section name="Close" id="{c5ca7a3a-6219-4d89-1f5f-1d623e3a1dc9}">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One-liner: big companies buy an immune system for their network; we put one inside every tiny device, so they protect each other with no cloud and no expensive box. The honeycomb is today's demo: an ESP32, a laptop, a Raspberry Pi, a router (gateway), a Bluetooth bulb and a Wi-Fi bulb that cannot run 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scale: 21 billion devices, mostly dumb ones with no antivirus and rare updates. Hijacked ones power record botnets: Aisuru alone is estimated at 1 to 4 million devices and launched a 31.4 Tbps attack. Laws help, but only for devices sold from now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companies already buy this kind of protection, but it lives in a costly box on their network. Homes, shops, farms and small factories can't afford it, and it never runs inside the cheap devices. Hive flips that: the immune system lives in the devices, and they share what they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maps one to one onto the body. The key new step is the vaccine: a tiny signed message that says only 'block this sender', which lets neighbours become immune before the attacker reaches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kinds of device, one system. Smart devices protect themselves. Dumb Wi-Fi devices are guarded by the router, which in production would be an OpenWrt package. Bluetooth devices are guarded by their hub, here the ESP32 itself. The bottom row is the loop every smart device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second each device measures five things about its traffic and compares them with what it learned in its first 20 seconds. A tiny autoencoder, trained with numpy on real normal traffic, tries to rebuild them; if it can't, something is wrong. The same 152 bytes of open weights run in Python and on the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question: if devices obey vaccines, can an attacker send a fake one? The worst a fake vaccine can ever do is cause a temporary, unnecessary block, never a takeover. In the demo we send forged, tampered, oversized, replayed, hub-targeting and spammed vaccines; every device rejects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a judge the keyboard: 1 attacks the ESP32 (watch its LED blink fast), 3 attacks Laptop B, 2 attacks Laptop A, b infects the Wi-Fi bulb, t the Bluetooth bulb, c attacks the cure, r resets. Press Reset once before starting. Backup video: docs/demo-backup-simulation.mp4.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from our own devices, not a simulation. The time to immunity includes the gap between button presses. Testing on hardware found a real bug: the ESP32's network library went deaf after one large packet. It's fixed and covered by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watching for unusual behaviour isn't new. What's new is where it runs (inside ₹500 devices), that devices share immunity peer-to-peer with no cloud, and that the vaccines can't be weaponised. Production would use per-device asymmetric keys generated on the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and invite questions. Expected questions: can the vaccine be hacked (slide 7, and the live attack-the-cure); isn't this Darktrace (yes for big networks, but we run inside ₹500 chips, peer-to-peer and offline); who installs it (device makers and router firmware; dumb devices need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ive 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400800" cy="1371600"/>
          </a:xfrm>
          <a:prstGeom prst="rect">
            <a:avLst/>
          </a:prstGeom>
          <a:noFill/>
          <a:ln/>
        </p:spPr>
        <p:txBody>
          <a:bodyPr wrap="square" rtlCol="0"/>
          <a:lstStyle>
            <a:lvl1pPr indent="0" marL="0">
              <a:buNone/>
              <a:defRPr lang="en-US" sz="8000" b="1" dirty="0">
                <a:solidFill>
                  <a:schemeClr val="bg1"/>
                </a:solidFill>
              </a:defRPr>
            </a:lvl1pPr>
          </a:lstStyle>
          <a:p>
            <a:pPr indent="0" marL="0">
              <a:buNone/>
            </a:pPr>
            <a:endParaRPr lang="en-US" sz="8000" dirty="0"/>
          </a:p>
        </p:txBody>
      </p:sp>
      <p:sp>
        <p:nvSpPr>
          <p:cNvPr id="3" name="Text 0"/>
          <p:cNvSpPr/>
          <p:nvPr>
            <p:ph idx="101" type="body" hasCustomPrompt="1"/>
          </p:nvPr>
        </p:nvSpPr>
        <p:spPr>
          <a:xfrm>
            <a:off x="731520" y="3246120"/>
            <a:ext cx="6400800" cy="1188720"/>
          </a:xfrm>
          <a:prstGeom prst="rect">
            <a:avLst/>
          </a:prstGeom>
          <a:noFill/>
          <a:ln/>
        </p:spPr>
        <p:txBody>
          <a:bodyPr wrap="square" rtlCol="0"/>
          <a:lstStyle>
            <a:lvl1pPr indent="0" marL="0">
              <a:buNone/>
              <a:defRPr lang="en-US" sz="2800" dirty="0">
                <a:solidFill>
                  <a:schemeClr val="bg2"/>
                </a:solidFill>
              </a:defRPr>
            </a:lvl1pPr>
          </a:lstStyle>
          <a:p>
            <a:pPr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ive 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Hive Immunity System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99B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99B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400800" cy="1371600"/>
          </a:xfrm>
          <a:prstGeom prst="rect">
            <a:avLst/>
          </a:prstGeom>
          <a:noFill/>
          <a:ln/>
        </p:spPr>
        <p:txBody>
          <a:bodyPr wrap="square" lIns="0" tIns="0" rIns="0" bIns="0" rtlCol="0" anchor="b"/>
          <a:lstStyle/>
          <a:p>
            <a:pPr indent="0" marL="0">
              <a:buNone/>
            </a:pPr>
            <a:r>
              <a:rPr lang="en-US" sz="8000" b="1" dirty="0">
                <a:solidFill>
                  <a:schemeClr val="bg1"/>
                </a:solidFill>
              </a:rPr>
              <a:t>Hive</a:t>
            </a:r>
            <a:endParaRPr lang="en-US" sz="8000" dirty="0"/>
          </a:p>
        </p:txBody>
      </p:sp>
      <p:sp>
        <p:nvSpPr>
          <p:cNvPr id="3" name="Text 0"/>
          <p:cNvSpPr/>
          <p:nvPr>
            <p:ph idx="101" type="body" hasCustomPrompt="1"/>
          </p:nvPr>
        </p:nvSpPr>
        <p:spPr>
          <a:xfrm>
            <a:off x="731520" y="3246120"/>
            <a:ext cx="6400800" cy="1188720"/>
          </a:xfrm>
          <a:prstGeom prst="rect">
            <a:avLst/>
          </a:prstGeom>
          <a:noFill/>
          <a:ln/>
        </p:spPr>
        <p:txBody>
          <a:bodyPr wrap="square" lIns="0" tIns="0" rIns="0" bIns="0" rtlCol="0" anchor="t"/>
          <a:lstStyle/>
          <a:p>
            <a:pPr indent="0" marL="0">
              <a:buNone/>
            </a:pPr>
            <a:r>
              <a:rPr lang="en-US" sz="2800" dirty="0">
                <a:solidFill>
                  <a:schemeClr val="bg2"/>
                </a:solidFill>
              </a:rPr>
              <a:t>An immune system inside every tiny device</a:t>
            </a:r>
            <a:endParaRPr lang="en-US" sz="2800" dirty="0"/>
          </a:p>
        </p:txBody>
      </p:sp>
      <p:sp>
        <p:nvSpPr>
          <p:cNvPr id="4" name="text-1"/>
          <p:cNvSpPr txBox="1"/>
          <p:nvPr/>
        </p:nvSpPr>
        <p:spPr>
          <a:xfrm>
            <a:off x="731520" y="4572000"/>
            <a:ext cx="6583680" cy="457200"/>
          </a:xfrm>
          <a:prstGeom prst="rect">
            <a:avLst/>
          </a:prstGeom>
          <a:noFill/>
          <a:ln/>
        </p:spPr>
        <p:txBody>
          <a:bodyPr wrap="square" lIns="0" tIns="0" rIns="0" bIns="0" rtlCol="0" anchor="t"/>
          <a:lstStyle/>
          <a:p>
            <a:pPr indent="0" marL="0">
              <a:buNone/>
            </a:pPr>
            <a:r>
              <a:rPr lang="en-US" sz="1800" b="1" dirty="0">
                <a:solidFill>
                  <a:schemeClr val="accent1"/>
                </a:solidFill>
              </a:rPr>
              <a:t>Peer-to-peer  ·  offline  ·  no cloud  ·  runs on a ₹500 chip</a:t>
            </a:r>
            <a:endParaRPr lang="en-US" sz="1800" dirty="0"/>
          </a:p>
        </p:txBody>
      </p:sp>
      <p:sp>
        <p:nvSpPr>
          <p:cNvPr id="5" name="hex-2"/>
          <p:cNvSpPr/>
          <p:nvPr/>
        </p:nvSpPr>
        <p:spPr>
          <a:xfrm>
            <a:off x="8549640" y="1051560"/>
            <a:ext cx="1737360" cy="1511503"/>
          </a:xfrm>
          <a:prstGeom prst="hexagon">
            <a:avLst/>
          </a:prstGeom>
          <a:solidFill>
            <a:schemeClr val="accent1"/>
          </a:solidFill>
          <a:ln w="12700">
            <a:solidFill>
              <a:schemeClr val="accent1"/>
            </a:solidFill>
            <a:prstDash val="solid"/>
          </a:ln>
        </p:spPr>
      </p:sp>
      <p:sp>
        <p:nvSpPr>
          <p:cNvPr id="6" name="hex-label-3"/>
          <p:cNvSpPr txBox="1"/>
          <p:nvPr/>
        </p:nvSpPr>
        <p:spPr>
          <a:xfrm>
            <a:off x="8549640" y="1051560"/>
            <a:ext cx="1737360" cy="1511503"/>
          </a:xfrm>
          <a:prstGeom prst="rect">
            <a:avLst/>
          </a:prstGeom>
          <a:noFill/>
          <a:ln/>
        </p:spPr>
        <p:txBody>
          <a:bodyPr wrap="square" lIns="0" tIns="0" rIns="0" bIns="0" rtlCol="0" anchor="ctr"/>
          <a:lstStyle/>
          <a:p>
            <a:pPr algn="ctr" indent="0" marL="0">
              <a:buNone/>
            </a:pPr>
            <a:r>
              <a:rPr lang="en-US" sz="1600" b="1" dirty="0">
                <a:solidFill>
                  <a:schemeClr val="tx1"/>
                </a:solidFill>
              </a:rPr>
              <a:t>ESP32</a:t>
            </a:r>
            <a:endParaRPr lang="en-US" sz="1600" dirty="0"/>
          </a:p>
        </p:txBody>
      </p:sp>
      <p:sp>
        <p:nvSpPr>
          <p:cNvPr id="7" name="hex-4"/>
          <p:cNvSpPr/>
          <p:nvPr/>
        </p:nvSpPr>
        <p:spPr>
          <a:xfrm>
            <a:off x="10058400" y="1920240"/>
            <a:ext cx="1737360" cy="1511503"/>
          </a:xfrm>
          <a:prstGeom prst="hexagon">
            <a:avLst/>
          </a:prstGeom>
          <a:solidFill>
            <a:schemeClr val="tx2"/>
          </a:solidFill>
          <a:ln w="12700">
            <a:solidFill>
              <a:schemeClr val="tx2"/>
            </a:solidFill>
            <a:prstDash val="solid"/>
          </a:ln>
        </p:spPr>
      </p:sp>
      <p:sp>
        <p:nvSpPr>
          <p:cNvPr id="8" name="hex-label-5"/>
          <p:cNvSpPr txBox="1"/>
          <p:nvPr/>
        </p:nvSpPr>
        <p:spPr>
          <a:xfrm>
            <a:off x="10058400" y="1920240"/>
            <a:ext cx="1737360" cy="1511503"/>
          </a:xfrm>
          <a:prstGeom prst="rect">
            <a:avLst/>
          </a:prstGeom>
          <a:noFill/>
          <a:ln/>
        </p:spPr>
        <p:txBody>
          <a:bodyPr wrap="square" lIns="0" tIns="0" rIns="0" bIns="0" rtlCol="0" anchor="ctr"/>
          <a:lstStyle/>
          <a:p>
            <a:pPr algn="ctr" indent="0" marL="0">
              <a:buNone/>
            </a:pPr>
            <a:r>
              <a:rPr lang="en-US" sz="1600" b="1" dirty="0">
                <a:solidFill>
                  <a:schemeClr val="bg1"/>
                </a:solidFill>
              </a:rPr>
              <a:t>Laptop</a:t>
            </a:r>
            <a:endParaRPr lang="en-US" sz="1600" dirty="0"/>
          </a:p>
        </p:txBody>
      </p:sp>
      <p:sp>
        <p:nvSpPr>
          <p:cNvPr id="9" name="hex-6"/>
          <p:cNvSpPr/>
          <p:nvPr/>
        </p:nvSpPr>
        <p:spPr>
          <a:xfrm>
            <a:off x="8549640" y="2788920"/>
            <a:ext cx="1737360" cy="1511503"/>
          </a:xfrm>
          <a:prstGeom prst="hexagon">
            <a:avLst/>
          </a:prstGeom>
          <a:solidFill>
            <a:schemeClr val="tx2"/>
          </a:solidFill>
          <a:ln w="12700">
            <a:solidFill>
              <a:schemeClr val="tx2"/>
            </a:solidFill>
            <a:prstDash val="solid"/>
          </a:ln>
        </p:spPr>
      </p:sp>
      <p:sp>
        <p:nvSpPr>
          <p:cNvPr id="10" name="hex-label-7"/>
          <p:cNvSpPr txBox="1"/>
          <p:nvPr/>
        </p:nvSpPr>
        <p:spPr>
          <a:xfrm>
            <a:off x="8549640" y="2788920"/>
            <a:ext cx="1737360" cy="1511503"/>
          </a:xfrm>
          <a:prstGeom prst="rect">
            <a:avLst/>
          </a:prstGeom>
          <a:noFill/>
          <a:ln/>
        </p:spPr>
        <p:txBody>
          <a:bodyPr wrap="square" lIns="0" tIns="0" rIns="0" bIns="0" rtlCol="0" anchor="ctr"/>
          <a:lstStyle/>
          <a:p>
            <a:pPr algn="ctr" indent="0" marL="0">
              <a:buNone/>
            </a:pPr>
            <a:r>
              <a:rPr lang="en-US" sz="1600" b="1" dirty="0">
                <a:solidFill>
                  <a:schemeClr val="bg1"/>
                </a:solidFill>
              </a:rPr>
              <a:t>Pi</a:t>
            </a:r>
            <a:endParaRPr lang="en-US" sz="1600" dirty="0"/>
          </a:p>
        </p:txBody>
      </p:sp>
      <p:sp>
        <p:nvSpPr>
          <p:cNvPr id="11" name="hex-8"/>
          <p:cNvSpPr/>
          <p:nvPr/>
        </p:nvSpPr>
        <p:spPr>
          <a:xfrm>
            <a:off x="10058400" y="3657600"/>
            <a:ext cx="1737360" cy="1511503"/>
          </a:xfrm>
          <a:prstGeom prst="hexagon">
            <a:avLst/>
          </a:prstGeom>
          <a:solidFill>
            <a:schemeClr val="tx2"/>
          </a:solidFill>
          <a:ln w="12700">
            <a:solidFill>
              <a:schemeClr val="tx2"/>
            </a:solidFill>
            <a:prstDash val="solid"/>
          </a:ln>
        </p:spPr>
      </p:sp>
      <p:sp>
        <p:nvSpPr>
          <p:cNvPr id="12" name="hex-label-9"/>
          <p:cNvSpPr txBox="1"/>
          <p:nvPr/>
        </p:nvSpPr>
        <p:spPr>
          <a:xfrm>
            <a:off x="10058400" y="3657600"/>
            <a:ext cx="1737360" cy="1511503"/>
          </a:xfrm>
          <a:prstGeom prst="rect">
            <a:avLst/>
          </a:prstGeom>
          <a:noFill/>
          <a:ln/>
        </p:spPr>
        <p:txBody>
          <a:bodyPr wrap="square" lIns="0" tIns="0" rIns="0" bIns="0" rtlCol="0" anchor="ctr"/>
          <a:lstStyle/>
          <a:p>
            <a:pPr algn="ctr" indent="0" marL="0">
              <a:buNone/>
            </a:pPr>
            <a:r>
              <a:rPr lang="en-US" sz="1600" b="1" dirty="0">
                <a:solidFill>
                  <a:schemeClr val="bg1"/>
                </a:solidFill>
              </a:rPr>
              <a:t>Gateway</a:t>
            </a:r>
            <a:endParaRPr lang="en-US" sz="1600" dirty="0"/>
          </a:p>
        </p:txBody>
      </p:sp>
      <p:sp>
        <p:nvSpPr>
          <p:cNvPr id="13" name="hex-10"/>
          <p:cNvSpPr/>
          <p:nvPr/>
        </p:nvSpPr>
        <p:spPr>
          <a:xfrm>
            <a:off x="8549640" y="4526280"/>
            <a:ext cx="1737360" cy="1511503"/>
          </a:xfrm>
          <a:prstGeom prst="hexagon">
            <a:avLst/>
          </a:prstGeom>
          <a:solidFill>
            <a:schemeClr val="tx2"/>
          </a:solidFill>
          <a:ln w="12700">
            <a:solidFill>
              <a:schemeClr val="tx2"/>
            </a:solidFill>
            <a:prstDash val="solid"/>
          </a:ln>
        </p:spPr>
      </p:sp>
      <p:sp>
        <p:nvSpPr>
          <p:cNvPr id="14" name="hex-label-11"/>
          <p:cNvSpPr txBox="1"/>
          <p:nvPr/>
        </p:nvSpPr>
        <p:spPr>
          <a:xfrm>
            <a:off x="8549640" y="4526280"/>
            <a:ext cx="1737360" cy="1511503"/>
          </a:xfrm>
          <a:prstGeom prst="rect">
            <a:avLst/>
          </a:prstGeom>
          <a:noFill/>
          <a:ln/>
        </p:spPr>
        <p:txBody>
          <a:bodyPr wrap="square" lIns="0" tIns="0" rIns="0" bIns="0" rtlCol="0" anchor="ctr"/>
          <a:lstStyle/>
          <a:p>
            <a:pPr algn="ctr" indent="0" marL="0">
              <a:buNone/>
            </a:pPr>
            <a:r>
              <a:rPr lang="en-US" sz="1600" b="1" dirty="0">
                <a:solidFill>
                  <a:schemeClr val="bg1"/>
                </a:solidFill>
              </a:rPr>
              <a:t>BLE</a:t>
            </a:r>
            <a:endParaRPr lang="en-US" sz="1600" dirty="0"/>
          </a:p>
        </p:txBody>
      </p:sp>
      <p:sp>
        <p:nvSpPr>
          <p:cNvPr id="15" name="hex-12"/>
          <p:cNvSpPr/>
          <p:nvPr/>
        </p:nvSpPr>
        <p:spPr>
          <a:xfrm>
            <a:off x="7040880" y="3657600"/>
            <a:ext cx="1737360" cy="1511503"/>
          </a:xfrm>
          <a:prstGeom prst="hexagon">
            <a:avLst/>
          </a:prstGeom>
          <a:solidFill>
            <a:schemeClr val="accent3"/>
          </a:solidFill>
          <a:ln w="12700">
            <a:solidFill>
              <a:schemeClr val="accent3"/>
            </a:solidFill>
            <a:prstDash val="solid"/>
          </a:ln>
        </p:spPr>
      </p:sp>
      <p:sp>
        <p:nvSpPr>
          <p:cNvPr id="16" name="hex-label-13"/>
          <p:cNvSpPr txBox="1"/>
          <p:nvPr/>
        </p:nvSpPr>
        <p:spPr>
          <a:xfrm>
            <a:off x="7040880" y="3657600"/>
            <a:ext cx="1737360" cy="1511503"/>
          </a:xfrm>
          <a:prstGeom prst="rect">
            <a:avLst/>
          </a:prstGeom>
          <a:noFill/>
          <a:ln/>
        </p:spPr>
        <p:txBody>
          <a:bodyPr wrap="square" lIns="0" tIns="0" rIns="0" bIns="0" rtlCol="0" anchor="ctr"/>
          <a:lstStyle/>
          <a:p>
            <a:pPr algn="ctr" indent="0" marL="0">
              <a:buNone/>
            </a:pPr>
            <a:r>
              <a:rPr lang="en-US" sz="1600" b="1" dirty="0">
                <a:solidFill>
                  <a:schemeClr val="bg1"/>
                </a:solidFill>
              </a:rPr>
              <a:t>Bulb</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Billions of cheap devices can't defend themselves</a:t>
            </a:r>
            <a:endParaRPr lang="en-US" sz="3600" dirty="0"/>
          </a:p>
        </p:txBody>
      </p:sp>
      <p:sp>
        <p:nvSpPr>
          <p:cNvPr id="3" name="card-14"/>
          <p:cNvSpPr/>
          <p:nvPr/>
        </p:nvSpPr>
        <p:spPr>
          <a:xfrm>
            <a:off x="548640" y="1417320"/>
            <a:ext cx="3474720" cy="3017520"/>
          </a:xfrm>
          <a:prstGeom prst="roundRect">
            <a:avLst>
              <a:gd name="adj" fmla="val 3636"/>
            </a:avLst>
          </a:prstGeom>
          <a:solidFill>
            <a:schemeClr val="tx2"/>
          </a:solidFill>
          <a:ln w="12700">
            <a:solidFill>
              <a:schemeClr val="tx2"/>
            </a:solidFill>
            <a:prstDash val="solid"/>
          </a:ln>
        </p:spPr>
      </p:sp>
      <p:sp>
        <p:nvSpPr>
          <p:cNvPr id="4" name="text-15"/>
          <p:cNvSpPr txBox="1"/>
          <p:nvPr/>
        </p:nvSpPr>
        <p:spPr>
          <a:xfrm>
            <a:off x="868680" y="1691640"/>
            <a:ext cx="2834640" cy="1005840"/>
          </a:xfrm>
          <a:prstGeom prst="rect">
            <a:avLst/>
          </a:prstGeom>
          <a:noFill/>
          <a:ln/>
        </p:spPr>
        <p:txBody>
          <a:bodyPr wrap="square" lIns="0" tIns="0" rIns="0" bIns="0" rtlCol="0" anchor="t">
            <a:normAutofit/>
          </a:bodyPr>
          <a:lstStyle/>
          <a:p>
            <a:pPr indent="0" marL="0">
              <a:buNone/>
            </a:pPr>
            <a:r>
              <a:rPr lang="en-US" sz="5400" b="1" dirty="0">
                <a:solidFill>
                  <a:schemeClr val="accent1"/>
                </a:solidFill>
              </a:rPr>
              <a:t>21.1 B</a:t>
            </a:r>
            <a:endParaRPr lang="en-US" sz="5400" dirty="0"/>
          </a:p>
        </p:txBody>
      </p:sp>
      <p:sp>
        <p:nvSpPr>
          <p:cNvPr id="5" name="text-16"/>
          <p:cNvSpPr txBox="1"/>
          <p:nvPr/>
        </p:nvSpPr>
        <p:spPr>
          <a:xfrm>
            <a:off x="868680" y="2788920"/>
            <a:ext cx="2834640" cy="1463040"/>
          </a:xfrm>
          <a:prstGeom prst="rect">
            <a:avLst/>
          </a:prstGeom>
          <a:noFill/>
          <a:ln/>
        </p:spPr>
        <p:txBody>
          <a:bodyPr wrap="square" lIns="0" tIns="0" rIns="0" bIns="0" rtlCol="0" anchor="t"/>
          <a:lstStyle/>
          <a:p>
            <a:pPr indent="0" marL="0">
              <a:buNone/>
            </a:pPr>
            <a:r>
              <a:rPr lang="en-US" sz="1600" dirty="0">
                <a:solidFill>
                  <a:schemeClr val="bg2"/>
                </a:solidFill>
              </a:rPr>
              <a:t>connected IoT devices by the end of 2025, most of them bulbs, plugs, cameras and sensors</a:t>
            </a:r>
            <a:endParaRPr lang="en-US" sz="1600" dirty="0"/>
          </a:p>
        </p:txBody>
      </p:sp>
      <p:sp>
        <p:nvSpPr>
          <p:cNvPr id="6" name="card-17"/>
          <p:cNvSpPr/>
          <p:nvPr/>
        </p:nvSpPr>
        <p:spPr>
          <a:xfrm>
            <a:off x="4343400" y="1417320"/>
            <a:ext cx="3474720" cy="3017520"/>
          </a:xfrm>
          <a:prstGeom prst="roundRect">
            <a:avLst>
              <a:gd name="adj" fmla="val 3636"/>
            </a:avLst>
          </a:prstGeom>
          <a:solidFill>
            <a:schemeClr val="tx2"/>
          </a:solidFill>
          <a:ln w="12700">
            <a:solidFill>
              <a:schemeClr val="tx2"/>
            </a:solidFill>
            <a:prstDash val="solid"/>
          </a:ln>
        </p:spPr>
      </p:sp>
      <p:sp>
        <p:nvSpPr>
          <p:cNvPr id="7" name="text-18"/>
          <p:cNvSpPr txBox="1"/>
          <p:nvPr/>
        </p:nvSpPr>
        <p:spPr>
          <a:xfrm>
            <a:off x="4663440" y="1691640"/>
            <a:ext cx="2834640" cy="1005840"/>
          </a:xfrm>
          <a:prstGeom prst="rect">
            <a:avLst/>
          </a:prstGeom>
          <a:noFill/>
          <a:ln/>
        </p:spPr>
        <p:txBody>
          <a:bodyPr wrap="square" lIns="0" tIns="0" rIns="0" bIns="0" rtlCol="0" anchor="t">
            <a:normAutofit/>
          </a:bodyPr>
          <a:lstStyle/>
          <a:p>
            <a:pPr indent="0" marL="0">
              <a:buNone/>
            </a:pPr>
            <a:r>
              <a:rPr lang="en-US" sz="5400" b="1" dirty="0">
                <a:solidFill>
                  <a:schemeClr val="accent1"/>
                </a:solidFill>
              </a:rPr>
              <a:t>1–4 M</a:t>
            </a:r>
            <a:endParaRPr lang="en-US" sz="5400" dirty="0"/>
          </a:p>
        </p:txBody>
      </p:sp>
      <p:sp>
        <p:nvSpPr>
          <p:cNvPr id="8" name="text-19"/>
          <p:cNvSpPr txBox="1"/>
          <p:nvPr/>
        </p:nvSpPr>
        <p:spPr>
          <a:xfrm>
            <a:off x="4663440" y="2788920"/>
            <a:ext cx="2834640" cy="1463040"/>
          </a:xfrm>
          <a:prstGeom prst="rect">
            <a:avLst/>
          </a:prstGeom>
          <a:noFill/>
          <a:ln/>
        </p:spPr>
        <p:txBody>
          <a:bodyPr wrap="square" lIns="0" tIns="0" rIns="0" bIns="0" rtlCol="0" anchor="t"/>
          <a:lstStyle/>
          <a:p>
            <a:pPr indent="0" marL="0">
              <a:buNone/>
            </a:pPr>
            <a:r>
              <a:rPr lang="en-US" sz="1600" dirty="0">
                <a:solidFill>
                  <a:schemeClr val="bg2"/>
                </a:solidFill>
              </a:rPr>
              <a:t>devices hijacked into the Aisuru botnet through old firmware and default passwords</a:t>
            </a:r>
            <a:endParaRPr lang="en-US" sz="1600" dirty="0"/>
          </a:p>
        </p:txBody>
      </p:sp>
      <p:sp>
        <p:nvSpPr>
          <p:cNvPr id="9" name="card-20"/>
          <p:cNvSpPr/>
          <p:nvPr/>
        </p:nvSpPr>
        <p:spPr>
          <a:xfrm>
            <a:off x="8138160" y="1417320"/>
            <a:ext cx="3474720" cy="3017520"/>
          </a:xfrm>
          <a:prstGeom prst="roundRect">
            <a:avLst>
              <a:gd name="adj" fmla="val 3636"/>
            </a:avLst>
          </a:prstGeom>
          <a:solidFill>
            <a:schemeClr val="tx2"/>
          </a:solidFill>
          <a:ln w="12700">
            <a:solidFill>
              <a:schemeClr val="tx2"/>
            </a:solidFill>
            <a:prstDash val="solid"/>
          </a:ln>
        </p:spPr>
      </p:sp>
      <p:sp>
        <p:nvSpPr>
          <p:cNvPr id="10" name="text-21"/>
          <p:cNvSpPr txBox="1"/>
          <p:nvPr/>
        </p:nvSpPr>
        <p:spPr>
          <a:xfrm>
            <a:off x="8458200" y="1691640"/>
            <a:ext cx="2834640" cy="1005840"/>
          </a:xfrm>
          <a:prstGeom prst="rect">
            <a:avLst/>
          </a:prstGeom>
          <a:noFill/>
          <a:ln/>
        </p:spPr>
        <p:txBody>
          <a:bodyPr wrap="square" lIns="0" tIns="0" rIns="0" bIns="0" rtlCol="0" anchor="t">
            <a:normAutofit/>
          </a:bodyPr>
          <a:lstStyle/>
          <a:p>
            <a:pPr indent="0" marL="0">
              <a:buNone/>
            </a:pPr>
            <a:r>
              <a:rPr lang="en-US" sz="5400" b="1" dirty="0">
                <a:solidFill>
                  <a:schemeClr val="accent1"/>
                </a:solidFill>
              </a:rPr>
              <a:t>31.4 Tbps</a:t>
            </a:r>
            <a:endParaRPr lang="en-US" sz="5400" dirty="0"/>
          </a:p>
        </p:txBody>
      </p:sp>
      <p:sp>
        <p:nvSpPr>
          <p:cNvPr id="11" name="text-22"/>
          <p:cNvSpPr txBox="1"/>
          <p:nvPr/>
        </p:nvSpPr>
        <p:spPr>
          <a:xfrm>
            <a:off x="8458200" y="2788920"/>
            <a:ext cx="2834640" cy="1463040"/>
          </a:xfrm>
          <a:prstGeom prst="rect">
            <a:avLst/>
          </a:prstGeom>
          <a:noFill/>
          <a:ln/>
        </p:spPr>
        <p:txBody>
          <a:bodyPr wrap="square" lIns="0" tIns="0" rIns="0" bIns="0" rtlCol="0" anchor="t"/>
          <a:lstStyle/>
          <a:p>
            <a:pPr indent="0" marL="0">
              <a:buNone/>
            </a:pPr>
            <a:r>
              <a:rPr lang="en-US" sz="1600" dirty="0">
                <a:solidFill>
                  <a:schemeClr val="bg2"/>
                </a:solidFill>
              </a:rPr>
              <a:t>record DDoS attack launched from those hijacked devices</a:t>
            </a:r>
            <a:endParaRPr lang="en-US" sz="1600" dirty="0"/>
          </a:p>
        </p:txBody>
      </p:sp>
      <p:sp>
        <p:nvSpPr>
          <p:cNvPr id="12" name="hex-23"/>
          <p:cNvSpPr/>
          <p:nvPr/>
        </p:nvSpPr>
        <p:spPr>
          <a:xfrm>
            <a:off x="548640" y="4892040"/>
            <a:ext cx="685800" cy="596646"/>
          </a:xfrm>
          <a:prstGeom prst="hexagon">
            <a:avLst/>
          </a:prstGeom>
          <a:solidFill>
            <a:schemeClr val="accent3"/>
          </a:solidFill>
          <a:ln w="12700">
            <a:solidFill>
              <a:schemeClr val="accent3"/>
            </a:solidFill>
            <a:prstDash val="solid"/>
          </a:ln>
        </p:spPr>
      </p:sp>
      <p:sp>
        <p:nvSpPr>
          <p:cNvPr id="13" name="hex-label-24"/>
          <p:cNvSpPr txBox="1"/>
          <p:nvPr/>
        </p:nvSpPr>
        <p:spPr>
          <a:xfrm>
            <a:off x="548640" y="4892040"/>
            <a:ext cx="685800" cy="596646"/>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4" name="text-25"/>
          <p:cNvSpPr txBox="1"/>
          <p:nvPr/>
        </p:nvSpPr>
        <p:spPr>
          <a:xfrm>
            <a:off x="1463040" y="4892040"/>
            <a:ext cx="10149840" cy="868680"/>
          </a:xfrm>
          <a:prstGeom prst="rect">
            <a:avLst/>
          </a:prstGeom>
          <a:noFill/>
          <a:ln/>
        </p:spPr>
        <p:txBody>
          <a:bodyPr wrap="square" lIns="0" tIns="0" rIns="0" bIns="0" rtlCol="0" anchor="ctr"/>
          <a:lstStyle/>
          <a:p>
            <a:pPr indent="0" marL="0">
              <a:buNone/>
            </a:pPr>
            <a:r>
              <a:rPr lang="en-US" sz="1800" b="1" dirty="0">
                <a:solidFill>
                  <a:schemeClr val="bg1"/>
                </a:solidFill>
              </a:rPr>
              <a:t>New laws only fix future devices. </a:t>
            </a:r>
            <a:pPr indent="0" marL="0">
              <a:buNone/>
            </a:pPr>
            <a:r>
              <a:rPr lang="en-US" sz="1800" dirty="0">
                <a:solidFill>
                  <a:schemeClr val="bg2"/>
                </a:solidFill>
              </a:rPr>
              <a:t>The UK banned default passwords in 2024; the EU Cyber Resilience Act applies from December 2027. The billions already installed stay exposed.</a:t>
            </a:r>
            <a:endParaRPr lang="en-US" sz="1800" dirty="0"/>
          </a:p>
        </p:txBody>
      </p:sp>
      <p:sp>
        <p:nvSpPr>
          <p:cNvPr id="15" name="text-26"/>
          <p:cNvSpPr txBox="1"/>
          <p:nvPr/>
        </p:nvSpPr>
        <p:spPr>
          <a:xfrm>
            <a:off x="548640" y="5989320"/>
            <a:ext cx="11064240" cy="274320"/>
          </a:xfrm>
          <a:prstGeom prst="rect">
            <a:avLst/>
          </a:prstGeom>
          <a:noFill/>
          <a:ln/>
        </p:spPr>
        <p:txBody>
          <a:bodyPr wrap="square" lIns="0" tIns="0" rIns="0" bIns="0" rtlCol="0" anchor="t"/>
          <a:lstStyle/>
          <a:p>
            <a:pPr indent="0" marL="0">
              <a:buNone/>
            </a:pPr>
            <a:r>
              <a:rPr lang="en-US" sz="1000" dirty="0">
                <a:solidFill>
                  <a:schemeClr val="accent5"/>
                </a:solidFill>
              </a:rPr>
              <a:t>Sources: Cloudflare, IoT Analytics, Help Net Security, European Commission (full links in the README)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99B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Today, an attacked device warns no one</a:t>
            </a:r>
            <a:endParaRPr lang="en-US" sz="3600" dirty="0"/>
          </a:p>
        </p:txBody>
      </p:sp>
      <p:sp>
        <p:nvSpPr>
          <p:cNvPr id="3" name="card-27"/>
          <p:cNvSpPr/>
          <p:nvPr/>
        </p:nvSpPr>
        <p:spPr>
          <a:xfrm>
            <a:off x="548640" y="1417320"/>
            <a:ext cx="5394960" cy="4480560"/>
          </a:xfrm>
          <a:prstGeom prst="roundRect">
            <a:avLst>
              <a:gd name="adj" fmla="val 2449"/>
            </a:avLst>
          </a:prstGeom>
          <a:solidFill>
            <a:schemeClr val="tx2"/>
          </a:solidFill>
          <a:ln w="12700">
            <a:solidFill>
              <a:schemeClr val="tx2"/>
            </a:solidFill>
            <a:prstDash val="solid"/>
          </a:ln>
        </p:spPr>
      </p:sp>
      <p:sp>
        <p:nvSpPr>
          <p:cNvPr id="4" name="hex-28"/>
          <p:cNvSpPr/>
          <p:nvPr/>
        </p:nvSpPr>
        <p:spPr>
          <a:xfrm>
            <a:off x="914400" y="1691640"/>
            <a:ext cx="731520" cy="636422"/>
          </a:xfrm>
          <a:prstGeom prst="hexagon">
            <a:avLst/>
          </a:prstGeom>
          <a:solidFill>
            <a:schemeClr val="accent3"/>
          </a:solidFill>
          <a:ln w="12700">
            <a:solidFill>
              <a:schemeClr val="accent3"/>
            </a:solidFill>
            <a:prstDash val="solid"/>
          </a:ln>
        </p:spPr>
      </p:sp>
      <p:sp>
        <p:nvSpPr>
          <p:cNvPr id="5" name="hex-label-29"/>
          <p:cNvSpPr txBox="1"/>
          <p:nvPr/>
        </p:nvSpPr>
        <p:spPr>
          <a:xfrm>
            <a:off x="914400" y="1691640"/>
            <a:ext cx="731520" cy="636422"/>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6" name="text-30"/>
          <p:cNvSpPr txBox="1"/>
          <p:nvPr/>
        </p:nvSpPr>
        <p:spPr>
          <a:xfrm>
            <a:off x="1874520" y="1691640"/>
            <a:ext cx="3749040" cy="640080"/>
          </a:xfrm>
          <a:prstGeom prst="rect">
            <a:avLst/>
          </a:prstGeom>
          <a:noFill/>
          <a:ln/>
        </p:spPr>
        <p:txBody>
          <a:bodyPr wrap="square" lIns="0" tIns="0" rIns="0" bIns="0" rtlCol="0" anchor="ctr"/>
          <a:lstStyle/>
          <a:p>
            <a:pPr indent="0" marL="0">
              <a:buNone/>
            </a:pPr>
            <a:r>
              <a:rPr lang="en-US" sz="2600" b="1" dirty="0">
                <a:solidFill>
                  <a:schemeClr val="bg1"/>
                </a:solidFill>
              </a:rPr>
              <a:t>Today</a:t>
            </a:r>
            <a:endParaRPr lang="en-US" sz="2600" dirty="0"/>
          </a:p>
        </p:txBody>
      </p:sp>
      <p:sp>
        <p:nvSpPr>
          <p:cNvPr id="7" name="text-31"/>
          <p:cNvSpPr txBox="1"/>
          <p:nvPr/>
        </p:nvSpPr>
        <p:spPr>
          <a:xfrm>
            <a:off x="960120" y="2697480"/>
            <a:ext cx="457200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2"/>
                </a:solidFill>
              </a:rPr>
              <a:t>Enterprise “immune systems” (e.g. Darktrace) learn normal traffic, but they are expensive network or cloud appliances</a:t>
            </a:r>
            <a:endParaRPr lang="en-US" sz="1800" dirty="0"/>
          </a:p>
          <a:p>
            <a:pPr marL="342900" indent="-342900">
              <a:spcAft>
                <a:spcPts val="1200"/>
              </a:spcAft>
              <a:buSzPct val="100000"/>
              <a:buChar char="•"/>
            </a:pPr>
            <a:r>
              <a:rPr lang="en-US" sz="1800" dirty="0">
                <a:solidFill>
                  <a:schemeClr val="bg2"/>
                </a:solidFill>
              </a:rPr>
              <a:t>Nothing runs inside the ₹500 devices themselves</a:t>
            </a:r>
            <a:endParaRPr lang="en-US" sz="1800" dirty="0"/>
          </a:p>
          <a:p>
            <a:pPr marL="342900" indent="-342900">
              <a:spcAft>
                <a:spcPts val="1200"/>
              </a:spcAft>
              <a:buSzPct val="100000"/>
              <a:buChar char="•"/>
            </a:pPr>
            <a:r>
              <a:rPr lang="en-US" sz="1800" dirty="0">
                <a:solidFill>
                  <a:schemeClr val="bg2"/>
                </a:solidFill>
              </a:rPr>
              <a:t>Each cheap device fights alone; the attacker simply moves on to the next one</a:t>
            </a:r>
            <a:endParaRPr lang="en-US" sz="1800" dirty="0"/>
          </a:p>
        </p:txBody>
      </p:sp>
      <p:sp>
        <p:nvSpPr>
          <p:cNvPr id="8" name="card-32"/>
          <p:cNvSpPr/>
          <p:nvPr/>
        </p:nvSpPr>
        <p:spPr>
          <a:xfrm>
            <a:off x="6217920" y="1417320"/>
            <a:ext cx="5394960" cy="4480560"/>
          </a:xfrm>
          <a:prstGeom prst="roundRect">
            <a:avLst>
              <a:gd name="adj" fmla="val 2449"/>
            </a:avLst>
          </a:prstGeom>
          <a:solidFill>
            <a:schemeClr val="tx2"/>
          </a:solidFill>
          <a:ln w="12700">
            <a:solidFill>
              <a:schemeClr val="tx2"/>
            </a:solidFill>
            <a:prstDash val="solid"/>
          </a:ln>
        </p:spPr>
      </p:sp>
      <p:sp>
        <p:nvSpPr>
          <p:cNvPr id="9" name="hex-33"/>
          <p:cNvSpPr/>
          <p:nvPr/>
        </p:nvSpPr>
        <p:spPr>
          <a:xfrm>
            <a:off x="6583680" y="1691640"/>
            <a:ext cx="731520" cy="636422"/>
          </a:xfrm>
          <a:prstGeom prst="hexagon">
            <a:avLst/>
          </a:prstGeom>
          <a:solidFill>
            <a:schemeClr val="accent2"/>
          </a:solidFill>
          <a:ln w="12700">
            <a:solidFill>
              <a:schemeClr val="accent2"/>
            </a:solidFill>
            <a:prstDash val="solid"/>
          </a:ln>
        </p:spPr>
      </p:sp>
      <p:sp>
        <p:nvSpPr>
          <p:cNvPr id="10" name="hex-label-34"/>
          <p:cNvSpPr txBox="1"/>
          <p:nvPr/>
        </p:nvSpPr>
        <p:spPr>
          <a:xfrm>
            <a:off x="6583680" y="1691640"/>
            <a:ext cx="731520" cy="636422"/>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1" name="text-35"/>
          <p:cNvSpPr txBox="1"/>
          <p:nvPr/>
        </p:nvSpPr>
        <p:spPr>
          <a:xfrm>
            <a:off x="7543800" y="1691640"/>
            <a:ext cx="3749040" cy="640080"/>
          </a:xfrm>
          <a:prstGeom prst="rect">
            <a:avLst/>
          </a:prstGeom>
          <a:noFill/>
          <a:ln/>
        </p:spPr>
        <p:txBody>
          <a:bodyPr wrap="square" lIns="0" tIns="0" rIns="0" bIns="0" rtlCol="0" anchor="ctr"/>
          <a:lstStyle/>
          <a:p>
            <a:pPr indent="0" marL="0">
              <a:buNone/>
            </a:pPr>
            <a:r>
              <a:rPr lang="en-US" sz="2600" b="1" dirty="0">
                <a:solidFill>
                  <a:schemeClr val="bg1"/>
                </a:solidFill>
              </a:rPr>
              <a:t>With Hive</a:t>
            </a:r>
            <a:endParaRPr lang="en-US" sz="2600" dirty="0"/>
          </a:p>
        </p:txBody>
      </p:sp>
      <p:sp>
        <p:nvSpPr>
          <p:cNvPr id="12" name="text-36"/>
          <p:cNvSpPr txBox="1"/>
          <p:nvPr/>
        </p:nvSpPr>
        <p:spPr>
          <a:xfrm>
            <a:off x="6629400" y="2697480"/>
            <a:ext cx="457200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bg2"/>
                </a:solidFill>
              </a:rPr>
              <a:t>A tiny immune system runs inside each smart device</a:t>
            </a:r>
            <a:endParaRPr lang="en-US" sz="1800" dirty="0"/>
          </a:p>
          <a:p>
            <a:pPr marL="342900" indent="-342900">
              <a:spcAft>
                <a:spcPts val="1200"/>
              </a:spcAft>
              <a:buSzPct val="100000"/>
              <a:buChar char="•"/>
            </a:pPr>
            <a:r>
              <a:rPr lang="en-US" sz="1800" dirty="0">
                <a:solidFill>
                  <a:schemeClr val="bg2"/>
                </a:solidFill>
              </a:rPr>
              <a:t>Devices vaccinate each other peer-to-peer, offline, with no cloud</a:t>
            </a:r>
            <a:endParaRPr lang="en-US" sz="1800" dirty="0"/>
          </a:p>
          <a:p>
            <a:pPr marL="342900" indent="-342900">
              <a:spcAft>
                <a:spcPts val="1200"/>
              </a:spcAft>
              <a:buSzPct val="100000"/>
              <a:buChar char="•"/>
            </a:pPr>
            <a:r>
              <a:rPr lang="en-US" sz="1800" dirty="0">
                <a:solidFill>
                  <a:schemeClr val="bg2"/>
                </a:solidFill>
              </a:rPr>
              <a:t>Devices that can't run code are guarded by the router or the Bluetooth hub</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99B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Borrowed from the body's immune system</a:t>
            </a:r>
            <a:endParaRPr lang="en-US" sz="3600" dirty="0"/>
          </a:p>
        </p:txBody>
      </p:sp>
      <p:sp>
        <p:nvSpPr>
          <p:cNvPr id="3" name="text-37"/>
          <p:cNvSpPr txBox="1"/>
          <p:nvPr/>
        </p:nvSpPr>
        <p:spPr>
          <a:xfrm>
            <a:off x="1463040" y="1325880"/>
            <a:ext cx="4206240" cy="320040"/>
          </a:xfrm>
          <a:prstGeom prst="rect">
            <a:avLst/>
          </a:prstGeom>
          <a:noFill/>
          <a:ln/>
        </p:spPr>
        <p:txBody>
          <a:bodyPr wrap="square" lIns="0" tIns="0" rIns="0" bIns="0" rtlCol="0" anchor="t"/>
          <a:lstStyle/>
          <a:p>
            <a:pPr indent="0" marL="0">
              <a:buNone/>
            </a:pPr>
            <a:r>
              <a:rPr lang="en-US" sz="1400" b="1" dirty="0">
                <a:solidFill>
                  <a:schemeClr val="accent5"/>
                </a:solidFill>
              </a:rPr>
              <a:t>BODY</a:t>
            </a:r>
            <a:endParaRPr lang="en-US" sz="1400" dirty="0"/>
          </a:p>
        </p:txBody>
      </p:sp>
      <p:sp>
        <p:nvSpPr>
          <p:cNvPr id="4" name="text-38"/>
          <p:cNvSpPr txBox="1"/>
          <p:nvPr/>
        </p:nvSpPr>
        <p:spPr>
          <a:xfrm>
            <a:off x="6675120" y="1325880"/>
            <a:ext cx="4846320" cy="320040"/>
          </a:xfrm>
          <a:prstGeom prst="rect">
            <a:avLst/>
          </a:prstGeom>
          <a:noFill/>
          <a:ln/>
        </p:spPr>
        <p:txBody>
          <a:bodyPr wrap="square" lIns="0" tIns="0" rIns="0" bIns="0" rtlCol="0" anchor="t"/>
          <a:lstStyle/>
          <a:p>
            <a:pPr indent="0" marL="0">
              <a:buNone/>
            </a:pPr>
            <a:r>
              <a:rPr lang="en-US" sz="1400" b="1" dirty="0">
                <a:solidFill>
                  <a:schemeClr val="accent1"/>
                </a:solidFill>
              </a:rPr>
              <a:t>HIVE</a:t>
            </a:r>
            <a:endParaRPr lang="en-US" sz="1400" dirty="0"/>
          </a:p>
        </p:txBody>
      </p:sp>
      <p:sp>
        <p:nvSpPr>
          <p:cNvPr id="5" name="hex-39"/>
          <p:cNvSpPr/>
          <p:nvPr/>
        </p:nvSpPr>
        <p:spPr>
          <a:xfrm>
            <a:off x="548640" y="1783080"/>
            <a:ext cx="685800" cy="596646"/>
          </a:xfrm>
          <a:prstGeom prst="hexagon">
            <a:avLst/>
          </a:prstGeom>
          <a:solidFill>
            <a:schemeClr val="accent1"/>
          </a:solidFill>
          <a:ln w="12700">
            <a:solidFill>
              <a:schemeClr val="accent1"/>
            </a:solidFill>
            <a:prstDash val="solid"/>
          </a:ln>
        </p:spPr>
      </p:sp>
      <p:sp>
        <p:nvSpPr>
          <p:cNvPr id="6" name="hex-label-40"/>
          <p:cNvSpPr txBox="1"/>
          <p:nvPr/>
        </p:nvSpPr>
        <p:spPr>
          <a:xfrm>
            <a:off x="548640" y="1783080"/>
            <a:ext cx="685800" cy="596646"/>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card-41"/>
          <p:cNvSpPr/>
          <p:nvPr/>
        </p:nvSpPr>
        <p:spPr>
          <a:xfrm>
            <a:off x="1463040" y="1783080"/>
            <a:ext cx="4480560" cy="621792"/>
          </a:xfrm>
          <a:prstGeom prst="roundRect">
            <a:avLst>
              <a:gd name="adj" fmla="val 17647"/>
            </a:avLst>
          </a:prstGeom>
          <a:solidFill>
            <a:schemeClr val="tx2"/>
          </a:solidFill>
          <a:ln w="12700">
            <a:solidFill>
              <a:schemeClr val="tx2"/>
            </a:solidFill>
            <a:prstDash val="solid"/>
          </a:ln>
        </p:spPr>
      </p:sp>
      <p:sp>
        <p:nvSpPr>
          <p:cNvPr id="8" name="text-42"/>
          <p:cNvSpPr txBox="1"/>
          <p:nvPr/>
        </p:nvSpPr>
        <p:spPr>
          <a:xfrm>
            <a:off x="1645920" y="1783080"/>
            <a:ext cx="4206240" cy="621792"/>
          </a:xfrm>
          <a:prstGeom prst="rect">
            <a:avLst/>
          </a:prstGeom>
          <a:noFill/>
          <a:ln/>
        </p:spPr>
        <p:txBody>
          <a:bodyPr wrap="square" lIns="0" tIns="0" rIns="0" bIns="0" rtlCol="0" anchor="ctr"/>
          <a:lstStyle/>
          <a:p>
            <a:pPr indent="0" marL="0">
              <a:buNone/>
            </a:pPr>
            <a:r>
              <a:rPr lang="en-US" sz="1700" dirty="0">
                <a:solidFill>
                  <a:schemeClr val="bg2"/>
                </a:solidFill>
              </a:rPr>
              <a:t>Cells know what “normal” looks like</a:t>
            </a:r>
            <a:endParaRPr lang="en-US" sz="1700" dirty="0"/>
          </a:p>
        </p:txBody>
      </p:sp>
      <p:sp>
        <p:nvSpPr>
          <p:cNvPr id="9" name="text-43"/>
          <p:cNvSpPr txBox="1"/>
          <p:nvPr/>
        </p:nvSpPr>
        <p:spPr>
          <a:xfrm>
            <a:off x="5989320" y="1783080"/>
            <a:ext cx="548640" cy="621792"/>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0" name="card-44"/>
          <p:cNvSpPr/>
          <p:nvPr/>
        </p:nvSpPr>
        <p:spPr>
          <a:xfrm>
            <a:off x="6583680" y="1783080"/>
            <a:ext cx="5029200" cy="621792"/>
          </a:xfrm>
          <a:prstGeom prst="roundRect">
            <a:avLst>
              <a:gd name="adj" fmla="val 17647"/>
            </a:avLst>
          </a:prstGeom>
          <a:solidFill>
            <a:schemeClr val="tx2"/>
          </a:solidFill>
          <a:ln w="12700">
            <a:solidFill>
              <a:schemeClr val="tx2"/>
            </a:solidFill>
            <a:prstDash val="solid"/>
          </a:ln>
        </p:spPr>
      </p:sp>
      <p:sp>
        <p:nvSpPr>
          <p:cNvPr id="11" name="text-45"/>
          <p:cNvSpPr txBox="1"/>
          <p:nvPr/>
        </p:nvSpPr>
        <p:spPr>
          <a:xfrm>
            <a:off x="6766560" y="1783080"/>
            <a:ext cx="4754880" cy="621792"/>
          </a:xfrm>
          <a:prstGeom prst="rect">
            <a:avLst/>
          </a:prstGeom>
          <a:noFill/>
          <a:ln/>
        </p:spPr>
        <p:txBody>
          <a:bodyPr wrap="square" lIns="0" tIns="0" rIns="0" bIns="0" rtlCol="0" anchor="ctr"/>
          <a:lstStyle/>
          <a:p>
            <a:pPr indent="0" marL="0">
              <a:buNone/>
            </a:pPr>
            <a:r>
              <a:rPr lang="en-US" sz="1700" b="1" dirty="0">
                <a:solidFill>
                  <a:schemeClr val="bg1"/>
                </a:solidFill>
              </a:rPr>
              <a:t>Each device's tiny model learns its own normal traffic</a:t>
            </a:r>
            <a:endParaRPr lang="en-US" sz="1700" dirty="0"/>
          </a:p>
        </p:txBody>
      </p:sp>
      <p:sp>
        <p:nvSpPr>
          <p:cNvPr id="12" name="hex-46"/>
          <p:cNvSpPr/>
          <p:nvPr/>
        </p:nvSpPr>
        <p:spPr>
          <a:xfrm>
            <a:off x="548640" y="2651760"/>
            <a:ext cx="685800" cy="596646"/>
          </a:xfrm>
          <a:prstGeom prst="hexagon">
            <a:avLst/>
          </a:prstGeom>
          <a:solidFill>
            <a:schemeClr val="tx2"/>
          </a:solidFill>
          <a:ln w="12700">
            <a:solidFill>
              <a:schemeClr val="tx2"/>
            </a:solidFill>
            <a:prstDash val="solid"/>
          </a:ln>
        </p:spPr>
      </p:sp>
      <p:sp>
        <p:nvSpPr>
          <p:cNvPr id="13" name="hex-label-47"/>
          <p:cNvSpPr txBox="1"/>
          <p:nvPr/>
        </p:nvSpPr>
        <p:spPr>
          <a:xfrm>
            <a:off x="548640" y="2651760"/>
            <a:ext cx="685800" cy="596646"/>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card-48"/>
          <p:cNvSpPr/>
          <p:nvPr/>
        </p:nvSpPr>
        <p:spPr>
          <a:xfrm>
            <a:off x="1463040" y="2651760"/>
            <a:ext cx="4480560" cy="621792"/>
          </a:xfrm>
          <a:prstGeom prst="roundRect">
            <a:avLst>
              <a:gd name="adj" fmla="val 17647"/>
            </a:avLst>
          </a:prstGeom>
          <a:solidFill>
            <a:schemeClr val="tx2"/>
          </a:solidFill>
          <a:ln w="12700">
            <a:solidFill>
              <a:schemeClr val="tx2"/>
            </a:solidFill>
            <a:prstDash val="solid"/>
          </a:ln>
        </p:spPr>
      </p:sp>
      <p:sp>
        <p:nvSpPr>
          <p:cNvPr id="15" name="text-49"/>
          <p:cNvSpPr txBox="1"/>
          <p:nvPr/>
        </p:nvSpPr>
        <p:spPr>
          <a:xfrm>
            <a:off x="1645920" y="2651760"/>
            <a:ext cx="4206240" cy="621792"/>
          </a:xfrm>
          <a:prstGeom prst="rect">
            <a:avLst/>
          </a:prstGeom>
          <a:noFill/>
          <a:ln/>
        </p:spPr>
        <p:txBody>
          <a:bodyPr wrap="square" lIns="0" tIns="0" rIns="0" bIns="0" rtlCol="0" anchor="ctr"/>
          <a:lstStyle/>
          <a:p>
            <a:pPr indent="0" marL="0">
              <a:buNone/>
            </a:pPr>
            <a:r>
              <a:rPr lang="en-US" sz="1700" dirty="0">
                <a:solidFill>
                  <a:schemeClr val="bg2"/>
                </a:solidFill>
              </a:rPr>
              <a:t>An infected cell isolates itself</a:t>
            </a:r>
            <a:endParaRPr lang="en-US" sz="1700" dirty="0"/>
          </a:p>
        </p:txBody>
      </p:sp>
      <p:sp>
        <p:nvSpPr>
          <p:cNvPr id="16" name="text-50"/>
          <p:cNvSpPr txBox="1"/>
          <p:nvPr/>
        </p:nvSpPr>
        <p:spPr>
          <a:xfrm>
            <a:off x="5989320" y="2651760"/>
            <a:ext cx="548640" cy="621792"/>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7" name="card-51"/>
          <p:cNvSpPr/>
          <p:nvPr/>
        </p:nvSpPr>
        <p:spPr>
          <a:xfrm>
            <a:off x="6583680" y="2651760"/>
            <a:ext cx="5029200" cy="621792"/>
          </a:xfrm>
          <a:prstGeom prst="roundRect">
            <a:avLst>
              <a:gd name="adj" fmla="val 17647"/>
            </a:avLst>
          </a:prstGeom>
          <a:solidFill>
            <a:schemeClr val="tx2"/>
          </a:solidFill>
          <a:ln w="12700">
            <a:solidFill>
              <a:schemeClr val="tx2"/>
            </a:solidFill>
            <a:prstDash val="solid"/>
          </a:ln>
        </p:spPr>
      </p:sp>
      <p:sp>
        <p:nvSpPr>
          <p:cNvPr id="18" name="text-52"/>
          <p:cNvSpPr txBox="1"/>
          <p:nvPr/>
        </p:nvSpPr>
        <p:spPr>
          <a:xfrm>
            <a:off x="6766560" y="2651760"/>
            <a:ext cx="4754880" cy="621792"/>
          </a:xfrm>
          <a:prstGeom prst="rect">
            <a:avLst/>
          </a:prstGeom>
          <a:noFill/>
          <a:ln/>
        </p:spPr>
        <p:txBody>
          <a:bodyPr wrap="square" lIns="0" tIns="0" rIns="0" bIns="0" rtlCol="0" anchor="ctr"/>
          <a:lstStyle/>
          <a:p>
            <a:pPr indent="0" marL="0">
              <a:buNone/>
            </a:pPr>
            <a:r>
              <a:rPr lang="en-US" sz="1700" b="1" dirty="0">
                <a:solidFill>
                  <a:schemeClr val="bg1"/>
                </a:solidFill>
              </a:rPr>
              <a:t>The device quarantines itself</a:t>
            </a:r>
            <a:endParaRPr lang="en-US" sz="1700" dirty="0"/>
          </a:p>
        </p:txBody>
      </p:sp>
      <p:sp>
        <p:nvSpPr>
          <p:cNvPr id="19" name="hex-53"/>
          <p:cNvSpPr/>
          <p:nvPr/>
        </p:nvSpPr>
        <p:spPr>
          <a:xfrm>
            <a:off x="548640" y="3520440"/>
            <a:ext cx="685800" cy="596646"/>
          </a:xfrm>
          <a:prstGeom prst="hexagon">
            <a:avLst/>
          </a:prstGeom>
          <a:solidFill>
            <a:schemeClr val="accent1"/>
          </a:solidFill>
          <a:ln w="12700">
            <a:solidFill>
              <a:schemeClr val="accent1"/>
            </a:solidFill>
            <a:prstDash val="solid"/>
          </a:ln>
        </p:spPr>
      </p:sp>
      <p:sp>
        <p:nvSpPr>
          <p:cNvPr id="20" name="hex-label-54"/>
          <p:cNvSpPr txBox="1"/>
          <p:nvPr/>
        </p:nvSpPr>
        <p:spPr>
          <a:xfrm>
            <a:off x="548640" y="3520440"/>
            <a:ext cx="685800" cy="596646"/>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21" name="card-55"/>
          <p:cNvSpPr/>
          <p:nvPr/>
        </p:nvSpPr>
        <p:spPr>
          <a:xfrm>
            <a:off x="1463040" y="3520440"/>
            <a:ext cx="4480560" cy="621792"/>
          </a:xfrm>
          <a:prstGeom prst="roundRect">
            <a:avLst>
              <a:gd name="adj" fmla="val 17647"/>
            </a:avLst>
          </a:prstGeom>
          <a:solidFill>
            <a:schemeClr val="tx2"/>
          </a:solidFill>
          <a:ln w="12700">
            <a:solidFill>
              <a:schemeClr val="tx2"/>
            </a:solidFill>
            <a:prstDash val="solid"/>
          </a:ln>
        </p:spPr>
      </p:sp>
      <p:sp>
        <p:nvSpPr>
          <p:cNvPr id="22" name="text-56"/>
          <p:cNvSpPr txBox="1"/>
          <p:nvPr/>
        </p:nvSpPr>
        <p:spPr>
          <a:xfrm>
            <a:off x="1645920" y="3520440"/>
            <a:ext cx="4206240" cy="621792"/>
          </a:xfrm>
          <a:prstGeom prst="rect">
            <a:avLst/>
          </a:prstGeom>
          <a:noFill/>
          <a:ln/>
        </p:spPr>
        <p:txBody>
          <a:bodyPr wrap="square" lIns="0" tIns="0" rIns="0" bIns="0" rtlCol="0" anchor="ctr"/>
          <a:lstStyle/>
          <a:p>
            <a:pPr indent="0" marL="0">
              <a:buNone/>
            </a:pPr>
            <a:r>
              <a:rPr lang="en-US" sz="1700" dirty="0">
                <a:solidFill>
                  <a:schemeClr val="bg2"/>
                </a:solidFill>
              </a:rPr>
              <a:t>The body makes vaccines</a:t>
            </a:r>
            <a:endParaRPr lang="en-US" sz="1700" dirty="0"/>
          </a:p>
        </p:txBody>
      </p:sp>
      <p:sp>
        <p:nvSpPr>
          <p:cNvPr id="23" name="text-57"/>
          <p:cNvSpPr txBox="1"/>
          <p:nvPr/>
        </p:nvSpPr>
        <p:spPr>
          <a:xfrm>
            <a:off x="5989320" y="3520440"/>
            <a:ext cx="548640" cy="621792"/>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24" name="card-58"/>
          <p:cNvSpPr/>
          <p:nvPr/>
        </p:nvSpPr>
        <p:spPr>
          <a:xfrm>
            <a:off x="6583680" y="3520440"/>
            <a:ext cx="5029200" cy="621792"/>
          </a:xfrm>
          <a:prstGeom prst="roundRect">
            <a:avLst>
              <a:gd name="adj" fmla="val 17647"/>
            </a:avLst>
          </a:prstGeom>
          <a:solidFill>
            <a:schemeClr val="tx2"/>
          </a:solidFill>
          <a:ln w="12700">
            <a:solidFill>
              <a:schemeClr val="tx2"/>
            </a:solidFill>
            <a:prstDash val="solid"/>
          </a:ln>
        </p:spPr>
      </p:sp>
      <p:sp>
        <p:nvSpPr>
          <p:cNvPr id="25" name="text-59"/>
          <p:cNvSpPr txBox="1"/>
          <p:nvPr/>
        </p:nvSpPr>
        <p:spPr>
          <a:xfrm>
            <a:off x="6766560" y="3520440"/>
            <a:ext cx="4754880" cy="621792"/>
          </a:xfrm>
          <a:prstGeom prst="rect">
            <a:avLst/>
          </a:prstGeom>
          <a:noFill/>
          <a:ln/>
        </p:spPr>
        <p:txBody>
          <a:bodyPr wrap="square" lIns="0" tIns="0" rIns="0" bIns="0" rtlCol="0" anchor="ctr"/>
          <a:lstStyle/>
          <a:p>
            <a:pPr indent="0" marL="0">
              <a:buNone/>
            </a:pPr>
            <a:r>
              <a:rPr lang="en-US" sz="1700" b="1" dirty="0">
                <a:solidFill>
                  <a:schemeClr val="bg1"/>
                </a:solidFill>
              </a:rPr>
              <a:t>It broadcasts a signed vaccine: “block sender X”</a:t>
            </a:r>
            <a:endParaRPr lang="en-US" sz="1700" dirty="0"/>
          </a:p>
        </p:txBody>
      </p:sp>
      <p:sp>
        <p:nvSpPr>
          <p:cNvPr id="26" name="hex-60"/>
          <p:cNvSpPr/>
          <p:nvPr/>
        </p:nvSpPr>
        <p:spPr>
          <a:xfrm>
            <a:off x="548640" y="4389120"/>
            <a:ext cx="685800" cy="596646"/>
          </a:xfrm>
          <a:prstGeom prst="hexagon">
            <a:avLst/>
          </a:prstGeom>
          <a:solidFill>
            <a:schemeClr val="tx2"/>
          </a:solidFill>
          <a:ln w="12700">
            <a:solidFill>
              <a:schemeClr val="tx2"/>
            </a:solidFill>
            <a:prstDash val="solid"/>
          </a:ln>
        </p:spPr>
      </p:sp>
      <p:sp>
        <p:nvSpPr>
          <p:cNvPr id="27" name="hex-label-61"/>
          <p:cNvSpPr txBox="1"/>
          <p:nvPr/>
        </p:nvSpPr>
        <p:spPr>
          <a:xfrm>
            <a:off x="548640" y="4389120"/>
            <a:ext cx="685800" cy="596646"/>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8" name="card-62"/>
          <p:cNvSpPr/>
          <p:nvPr/>
        </p:nvSpPr>
        <p:spPr>
          <a:xfrm>
            <a:off x="1463040" y="4389120"/>
            <a:ext cx="4480560" cy="621792"/>
          </a:xfrm>
          <a:prstGeom prst="roundRect">
            <a:avLst>
              <a:gd name="adj" fmla="val 17647"/>
            </a:avLst>
          </a:prstGeom>
          <a:solidFill>
            <a:schemeClr val="tx2"/>
          </a:solidFill>
          <a:ln w="12700">
            <a:solidFill>
              <a:schemeClr val="tx2"/>
            </a:solidFill>
            <a:prstDash val="solid"/>
          </a:ln>
        </p:spPr>
      </p:sp>
      <p:sp>
        <p:nvSpPr>
          <p:cNvPr id="29" name="text-63"/>
          <p:cNvSpPr txBox="1"/>
          <p:nvPr/>
        </p:nvSpPr>
        <p:spPr>
          <a:xfrm>
            <a:off x="1645920" y="4389120"/>
            <a:ext cx="4206240" cy="621792"/>
          </a:xfrm>
          <a:prstGeom prst="rect">
            <a:avLst/>
          </a:prstGeom>
          <a:noFill/>
          <a:ln/>
        </p:spPr>
        <p:txBody>
          <a:bodyPr wrap="square" lIns="0" tIns="0" rIns="0" bIns="0" rtlCol="0" anchor="ctr"/>
          <a:lstStyle/>
          <a:p>
            <a:pPr indent="0" marL="0">
              <a:buNone/>
            </a:pPr>
            <a:r>
              <a:rPr lang="en-US" sz="1700" dirty="0">
                <a:solidFill>
                  <a:schemeClr val="bg2"/>
                </a:solidFill>
              </a:rPr>
              <a:t>Others become immune before infection</a:t>
            </a:r>
            <a:endParaRPr lang="en-US" sz="1700" dirty="0"/>
          </a:p>
        </p:txBody>
      </p:sp>
      <p:sp>
        <p:nvSpPr>
          <p:cNvPr id="30" name="text-64"/>
          <p:cNvSpPr txBox="1"/>
          <p:nvPr/>
        </p:nvSpPr>
        <p:spPr>
          <a:xfrm>
            <a:off x="5989320" y="4389120"/>
            <a:ext cx="548640" cy="621792"/>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31" name="card-65"/>
          <p:cNvSpPr/>
          <p:nvPr/>
        </p:nvSpPr>
        <p:spPr>
          <a:xfrm>
            <a:off x="6583680" y="4389120"/>
            <a:ext cx="5029200" cy="621792"/>
          </a:xfrm>
          <a:prstGeom prst="roundRect">
            <a:avLst>
              <a:gd name="adj" fmla="val 17647"/>
            </a:avLst>
          </a:prstGeom>
          <a:solidFill>
            <a:schemeClr val="tx2"/>
          </a:solidFill>
          <a:ln w="12700">
            <a:solidFill>
              <a:schemeClr val="tx2"/>
            </a:solidFill>
            <a:prstDash val="solid"/>
          </a:ln>
        </p:spPr>
      </p:sp>
      <p:sp>
        <p:nvSpPr>
          <p:cNvPr id="32" name="text-66"/>
          <p:cNvSpPr txBox="1"/>
          <p:nvPr/>
        </p:nvSpPr>
        <p:spPr>
          <a:xfrm>
            <a:off x="6766560" y="4389120"/>
            <a:ext cx="4754880" cy="621792"/>
          </a:xfrm>
          <a:prstGeom prst="rect">
            <a:avLst/>
          </a:prstGeom>
          <a:noFill/>
          <a:ln/>
        </p:spPr>
        <p:txBody>
          <a:bodyPr wrap="square" lIns="0" tIns="0" rIns="0" bIns="0" rtlCol="0" anchor="ctr"/>
          <a:lstStyle/>
          <a:p>
            <a:pPr indent="0" marL="0">
              <a:buNone/>
            </a:pPr>
            <a:r>
              <a:rPr lang="en-US" sz="1700" b="1" dirty="0">
                <a:solidFill>
                  <a:schemeClr val="bg1"/>
                </a:solidFill>
              </a:rPr>
              <a:t>Neighbours block X before it ever reaches them</a:t>
            </a:r>
            <a:endParaRPr lang="en-US" sz="1700" dirty="0"/>
          </a:p>
        </p:txBody>
      </p:sp>
      <p:sp>
        <p:nvSpPr>
          <p:cNvPr id="33" name="hex-67"/>
          <p:cNvSpPr/>
          <p:nvPr/>
        </p:nvSpPr>
        <p:spPr>
          <a:xfrm>
            <a:off x="548640" y="5257800"/>
            <a:ext cx="685800" cy="596646"/>
          </a:xfrm>
          <a:prstGeom prst="hexagon">
            <a:avLst/>
          </a:prstGeom>
          <a:solidFill>
            <a:schemeClr val="accent1"/>
          </a:solidFill>
          <a:ln w="12700">
            <a:solidFill>
              <a:schemeClr val="accent1"/>
            </a:solidFill>
            <a:prstDash val="solid"/>
          </a:ln>
        </p:spPr>
      </p:sp>
      <p:sp>
        <p:nvSpPr>
          <p:cNvPr id="34" name="hex-label-68"/>
          <p:cNvSpPr txBox="1"/>
          <p:nvPr/>
        </p:nvSpPr>
        <p:spPr>
          <a:xfrm>
            <a:off x="548640" y="5257800"/>
            <a:ext cx="685800" cy="596646"/>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35" name="card-69"/>
          <p:cNvSpPr/>
          <p:nvPr/>
        </p:nvSpPr>
        <p:spPr>
          <a:xfrm>
            <a:off x="1463040" y="5257800"/>
            <a:ext cx="4480560" cy="621792"/>
          </a:xfrm>
          <a:prstGeom prst="roundRect">
            <a:avLst>
              <a:gd name="adj" fmla="val 17647"/>
            </a:avLst>
          </a:prstGeom>
          <a:solidFill>
            <a:schemeClr val="tx2"/>
          </a:solidFill>
          <a:ln w="12700">
            <a:solidFill>
              <a:schemeClr val="tx2"/>
            </a:solidFill>
            <a:prstDash val="solid"/>
          </a:ln>
        </p:spPr>
      </p:sp>
      <p:sp>
        <p:nvSpPr>
          <p:cNvPr id="36" name="text-70"/>
          <p:cNvSpPr txBox="1"/>
          <p:nvPr/>
        </p:nvSpPr>
        <p:spPr>
          <a:xfrm>
            <a:off x="1645920" y="5257800"/>
            <a:ext cx="4206240" cy="621792"/>
          </a:xfrm>
          <a:prstGeom prst="rect">
            <a:avLst/>
          </a:prstGeom>
          <a:noFill/>
          <a:ln/>
        </p:spPr>
        <p:txBody>
          <a:bodyPr wrap="square" lIns="0" tIns="0" rIns="0" bIns="0" rtlCol="0" anchor="ctr"/>
          <a:lstStyle/>
          <a:p>
            <a:pPr indent="0" marL="0">
              <a:buNone/>
            </a:pPr>
            <a:r>
              <a:rPr lang="en-US" sz="1700" dirty="0">
                <a:solidFill>
                  <a:schemeClr val="bg2"/>
                </a:solidFill>
              </a:rPr>
              <a:t>The body avoids autoimmunity</a:t>
            </a:r>
            <a:endParaRPr lang="en-US" sz="1700" dirty="0"/>
          </a:p>
        </p:txBody>
      </p:sp>
      <p:sp>
        <p:nvSpPr>
          <p:cNvPr id="37" name="text-71"/>
          <p:cNvSpPr txBox="1"/>
          <p:nvPr/>
        </p:nvSpPr>
        <p:spPr>
          <a:xfrm>
            <a:off x="5989320" y="5257800"/>
            <a:ext cx="548640" cy="621792"/>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38" name="card-72"/>
          <p:cNvSpPr/>
          <p:nvPr/>
        </p:nvSpPr>
        <p:spPr>
          <a:xfrm>
            <a:off x="6583680" y="5257800"/>
            <a:ext cx="5029200" cy="621792"/>
          </a:xfrm>
          <a:prstGeom prst="roundRect">
            <a:avLst>
              <a:gd name="adj" fmla="val 17647"/>
            </a:avLst>
          </a:prstGeom>
          <a:solidFill>
            <a:schemeClr val="tx2"/>
          </a:solidFill>
          <a:ln w="12700">
            <a:solidFill>
              <a:schemeClr val="tx2"/>
            </a:solidFill>
            <a:prstDash val="solid"/>
          </a:ln>
        </p:spPr>
      </p:sp>
      <p:sp>
        <p:nvSpPr>
          <p:cNvPr id="39" name="text-73"/>
          <p:cNvSpPr txBox="1"/>
          <p:nvPr/>
        </p:nvSpPr>
        <p:spPr>
          <a:xfrm>
            <a:off x="6766560" y="5257800"/>
            <a:ext cx="4754880" cy="621792"/>
          </a:xfrm>
          <a:prstGeom prst="rect">
            <a:avLst/>
          </a:prstGeom>
          <a:noFill/>
          <a:ln/>
        </p:spPr>
        <p:txBody>
          <a:bodyPr wrap="square" lIns="0" tIns="0" rIns="0" bIns="0" rtlCol="0" anchor="ctr"/>
          <a:lstStyle/>
          <a:p>
            <a:pPr indent="0" marL="0">
              <a:buNone/>
            </a:pPr>
            <a:r>
              <a:rPr lang="en-US" sz="1700" b="1" dirty="0">
                <a:solidFill>
                  <a:schemeClr val="bg1"/>
                </a:solidFill>
              </a:rPr>
              <a:t>A device that spams vaccines loses trust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99B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One system, three kinds of device</a:t>
            </a:r>
            <a:endParaRPr lang="en-US" sz="3600" dirty="0"/>
          </a:p>
        </p:txBody>
      </p:sp>
      <p:sp>
        <p:nvSpPr>
          <p:cNvPr id="3" name="card-74"/>
          <p:cNvSpPr/>
          <p:nvPr/>
        </p:nvSpPr>
        <p:spPr>
          <a:xfrm>
            <a:off x="548640" y="1417320"/>
            <a:ext cx="3474720" cy="3840480"/>
          </a:xfrm>
          <a:prstGeom prst="roundRect">
            <a:avLst>
              <a:gd name="adj" fmla="val 3158"/>
            </a:avLst>
          </a:prstGeom>
          <a:solidFill>
            <a:schemeClr val="tx2"/>
          </a:solidFill>
          <a:ln w="12700">
            <a:solidFill>
              <a:schemeClr val="tx2"/>
            </a:solidFill>
            <a:prstDash val="solid"/>
          </a:ln>
        </p:spPr>
      </p:sp>
      <p:sp>
        <p:nvSpPr>
          <p:cNvPr id="4" name="hex-75"/>
          <p:cNvSpPr/>
          <p:nvPr/>
        </p:nvSpPr>
        <p:spPr>
          <a:xfrm>
            <a:off x="868680" y="1691640"/>
            <a:ext cx="914400" cy="795528"/>
          </a:xfrm>
          <a:prstGeom prst="hexagon">
            <a:avLst/>
          </a:prstGeom>
          <a:solidFill>
            <a:schemeClr val="accent1"/>
          </a:solidFill>
          <a:ln w="12700">
            <a:solidFill>
              <a:schemeClr val="accent1"/>
            </a:solidFill>
            <a:prstDash val="solid"/>
          </a:ln>
        </p:spPr>
      </p:sp>
      <p:sp>
        <p:nvSpPr>
          <p:cNvPr id="5" name="hex-label-76"/>
          <p:cNvSpPr txBox="1"/>
          <p:nvPr/>
        </p:nvSpPr>
        <p:spPr>
          <a:xfrm>
            <a:off x="868680" y="1691640"/>
            <a:ext cx="914400" cy="795528"/>
          </a:xfrm>
          <a:prstGeom prst="rect">
            <a:avLst/>
          </a:prstGeom>
          <a:noFill/>
          <a:ln/>
        </p:spPr>
        <p:txBody>
          <a:bodyPr wrap="square" lIns="0" tIns="0" rIns="0" bIns="0" rtlCol="0" anchor="ctr"/>
          <a:lstStyle/>
          <a:p>
            <a:pPr algn="ctr" indent="0" marL="0">
              <a:buNone/>
            </a:pPr>
            <a:r>
              <a:rPr lang="en-US" sz="2400" b="1" dirty="0">
                <a:solidFill>
                  <a:schemeClr val="tx1"/>
                </a:solidFill>
              </a:rPr>
              <a:t>1</a:t>
            </a:r>
            <a:endParaRPr lang="en-US" sz="2400" dirty="0"/>
          </a:p>
        </p:txBody>
      </p:sp>
      <p:sp>
        <p:nvSpPr>
          <p:cNvPr id="6" name="text-77"/>
          <p:cNvSpPr txBox="1"/>
          <p:nvPr/>
        </p:nvSpPr>
        <p:spPr>
          <a:xfrm>
            <a:off x="868680" y="2697480"/>
            <a:ext cx="2834640" cy="457200"/>
          </a:xfrm>
          <a:prstGeom prst="rect">
            <a:avLst/>
          </a:prstGeom>
          <a:noFill/>
          <a:ln/>
        </p:spPr>
        <p:txBody>
          <a:bodyPr wrap="square" lIns="0" tIns="0" rIns="0" bIns="0" rtlCol="0" anchor="t"/>
          <a:lstStyle/>
          <a:p>
            <a:pPr indent="0" marL="0">
              <a:buNone/>
            </a:pPr>
            <a:r>
              <a:rPr lang="en-US" sz="2200" b="1" dirty="0">
                <a:solidFill>
                  <a:schemeClr val="bg1"/>
                </a:solidFill>
              </a:rPr>
              <a:t>Smart devices</a:t>
            </a:r>
            <a:endParaRPr lang="en-US" sz="2200" dirty="0"/>
          </a:p>
        </p:txBody>
      </p:sp>
      <p:sp>
        <p:nvSpPr>
          <p:cNvPr id="7" name="text-78"/>
          <p:cNvSpPr txBox="1"/>
          <p:nvPr/>
        </p:nvSpPr>
        <p:spPr>
          <a:xfrm>
            <a:off x="868680" y="3154680"/>
            <a:ext cx="2834640" cy="365760"/>
          </a:xfrm>
          <a:prstGeom prst="rect">
            <a:avLst/>
          </a:prstGeom>
          <a:noFill/>
          <a:ln/>
        </p:spPr>
        <p:txBody>
          <a:bodyPr wrap="square" lIns="0" tIns="0" rIns="0" bIns="0" rtlCol="0" anchor="t"/>
          <a:lstStyle/>
          <a:p>
            <a:pPr indent="0" marL="0">
              <a:buNone/>
            </a:pPr>
            <a:r>
              <a:rPr lang="en-US" sz="1400" dirty="0">
                <a:solidFill>
                  <a:schemeClr val="accent5"/>
                </a:solidFill>
              </a:rPr>
              <a:t>ESP32 · laptops · Pi</a:t>
            </a:r>
            <a:endParaRPr lang="en-US" sz="1400" dirty="0"/>
          </a:p>
        </p:txBody>
      </p:sp>
      <p:sp>
        <p:nvSpPr>
          <p:cNvPr id="8" name="text-79"/>
          <p:cNvSpPr txBox="1"/>
          <p:nvPr/>
        </p:nvSpPr>
        <p:spPr>
          <a:xfrm>
            <a:off x="868680" y="3611880"/>
            <a:ext cx="2834640" cy="1554480"/>
          </a:xfrm>
          <a:prstGeom prst="rect">
            <a:avLst/>
          </a:prstGeom>
          <a:noFill/>
          <a:ln/>
        </p:spPr>
        <p:txBody>
          <a:bodyPr wrap="square" lIns="0" tIns="0" rIns="0" bIns="0" rtlCol="0" anchor="t"/>
          <a:lstStyle/>
          <a:p>
            <a:pPr indent="0" marL="0">
              <a:buNone/>
            </a:pPr>
            <a:r>
              <a:rPr lang="en-US" sz="1600" dirty="0">
                <a:solidFill>
                  <a:schemeClr val="bg2"/>
                </a:solidFill>
              </a:rPr>
              <a:t>Run Hive themselves: a 152-byte model, self-quarantine, signed vaccines shared peer-to-peer</a:t>
            </a:r>
            <a:endParaRPr lang="en-US" sz="1600" dirty="0"/>
          </a:p>
        </p:txBody>
      </p:sp>
      <p:sp>
        <p:nvSpPr>
          <p:cNvPr id="9" name="card-80"/>
          <p:cNvSpPr/>
          <p:nvPr/>
        </p:nvSpPr>
        <p:spPr>
          <a:xfrm>
            <a:off x="4343400" y="1417320"/>
            <a:ext cx="3474720" cy="3840480"/>
          </a:xfrm>
          <a:prstGeom prst="roundRect">
            <a:avLst>
              <a:gd name="adj" fmla="val 3158"/>
            </a:avLst>
          </a:prstGeom>
          <a:solidFill>
            <a:schemeClr val="tx2"/>
          </a:solidFill>
          <a:ln w="12700">
            <a:solidFill>
              <a:schemeClr val="tx2"/>
            </a:solidFill>
            <a:prstDash val="solid"/>
          </a:ln>
        </p:spPr>
      </p:sp>
      <p:sp>
        <p:nvSpPr>
          <p:cNvPr id="10" name="hex-81"/>
          <p:cNvSpPr/>
          <p:nvPr/>
        </p:nvSpPr>
        <p:spPr>
          <a:xfrm>
            <a:off x="4663440" y="1691640"/>
            <a:ext cx="914400" cy="795528"/>
          </a:xfrm>
          <a:prstGeom prst="hexagon">
            <a:avLst/>
          </a:prstGeom>
          <a:solidFill>
            <a:schemeClr val="accent4"/>
          </a:solidFill>
          <a:ln w="12700">
            <a:solidFill>
              <a:schemeClr val="accent4"/>
            </a:solidFill>
            <a:prstDash val="solid"/>
          </a:ln>
        </p:spPr>
      </p:sp>
      <p:sp>
        <p:nvSpPr>
          <p:cNvPr id="11" name="hex-label-82"/>
          <p:cNvSpPr txBox="1"/>
          <p:nvPr/>
        </p:nvSpPr>
        <p:spPr>
          <a:xfrm>
            <a:off x="4663440" y="1691640"/>
            <a:ext cx="914400" cy="795528"/>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83"/>
          <p:cNvSpPr txBox="1"/>
          <p:nvPr/>
        </p:nvSpPr>
        <p:spPr>
          <a:xfrm>
            <a:off x="4663440" y="2697480"/>
            <a:ext cx="2834640" cy="457200"/>
          </a:xfrm>
          <a:prstGeom prst="rect">
            <a:avLst/>
          </a:prstGeom>
          <a:noFill/>
          <a:ln/>
        </p:spPr>
        <p:txBody>
          <a:bodyPr wrap="square" lIns="0" tIns="0" rIns="0" bIns="0" rtlCol="0" anchor="t"/>
          <a:lstStyle/>
          <a:p>
            <a:pPr indent="0" marL="0">
              <a:buNone/>
            </a:pPr>
            <a:r>
              <a:rPr lang="en-US" sz="2200" b="1" dirty="0">
                <a:solidFill>
                  <a:schemeClr val="bg1"/>
                </a:solidFill>
              </a:rPr>
              <a:t>Wi-Fi devices</a:t>
            </a:r>
            <a:endParaRPr lang="en-US" sz="2200" dirty="0"/>
          </a:p>
        </p:txBody>
      </p:sp>
      <p:sp>
        <p:nvSpPr>
          <p:cNvPr id="13" name="text-84"/>
          <p:cNvSpPr txBox="1"/>
          <p:nvPr/>
        </p:nvSpPr>
        <p:spPr>
          <a:xfrm>
            <a:off x="4663440" y="3154680"/>
            <a:ext cx="2834640" cy="365760"/>
          </a:xfrm>
          <a:prstGeom prst="rect">
            <a:avLst/>
          </a:prstGeom>
          <a:noFill/>
          <a:ln/>
        </p:spPr>
        <p:txBody>
          <a:bodyPr wrap="square" lIns="0" tIns="0" rIns="0" bIns="0" rtlCol="0" anchor="t"/>
          <a:lstStyle/>
          <a:p>
            <a:pPr indent="0" marL="0">
              <a:buNone/>
            </a:pPr>
            <a:r>
              <a:rPr lang="en-US" sz="1400" dirty="0">
                <a:solidFill>
                  <a:schemeClr val="accent5"/>
                </a:solidFill>
              </a:rPr>
              <a:t>bulbs · plugs · cameras</a:t>
            </a:r>
            <a:endParaRPr lang="en-US" sz="1400" dirty="0"/>
          </a:p>
        </p:txBody>
      </p:sp>
      <p:sp>
        <p:nvSpPr>
          <p:cNvPr id="14" name="text-85"/>
          <p:cNvSpPr txBox="1"/>
          <p:nvPr/>
        </p:nvSpPr>
        <p:spPr>
          <a:xfrm>
            <a:off x="4663440" y="3611880"/>
            <a:ext cx="2834640" cy="1554480"/>
          </a:xfrm>
          <a:prstGeom prst="rect">
            <a:avLst/>
          </a:prstGeom>
          <a:noFill/>
          <a:ln/>
        </p:spPr>
        <p:txBody>
          <a:bodyPr wrap="square" lIns="0" tIns="0" rIns="0" bIns="0" rtlCol="0" anchor="t"/>
          <a:lstStyle/>
          <a:p>
            <a:pPr indent="0" marL="0">
              <a:buNone/>
            </a:pPr>
            <a:r>
              <a:rPr lang="en-US" sz="1600" dirty="0">
                <a:solidFill>
                  <a:schemeClr val="bg2"/>
                </a:solidFill>
              </a:rPr>
              <a:t>Can't run code, so the router learns each one's normal and isolates a rogue one with a firewall rule</a:t>
            </a:r>
            <a:endParaRPr lang="en-US" sz="1600" dirty="0"/>
          </a:p>
        </p:txBody>
      </p:sp>
      <p:sp>
        <p:nvSpPr>
          <p:cNvPr id="15" name="card-86"/>
          <p:cNvSpPr/>
          <p:nvPr/>
        </p:nvSpPr>
        <p:spPr>
          <a:xfrm>
            <a:off x="8138160" y="1417320"/>
            <a:ext cx="3474720" cy="3840480"/>
          </a:xfrm>
          <a:prstGeom prst="roundRect">
            <a:avLst>
              <a:gd name="adj" fmla="val 3158"/>
            </a:avLst>
          </a:prstGeom>
          <a:solidFill>
            <a:schemeClr val="tx2"/>
          </a:solidFill>
          <a:ln w="12700">
            <a:solidFill>
              <a:schemeClr val="tx2"/>
            </a:solidFill>
            <a:prstDash val="solid"/>
          </a:ln>
        </p:spPr>
      </p:sp>
      <p:sp>
        <p:nvSpPr>
          <p:cNvPr id="16" name="hex-87"/>
          <p:cNvSpPr/>
          <p:nvPr/>
        </p:nvSpPr>
        <p:spPr>
          <a:xfrm>
            <a:off x="8458200" y="1691640"/>
            <a:ext cx="914400" cy="795528"/>
          </a:xfrm>
          <a:prstGeom prst="hexagon">
            <a:avLst/>
          </a:prstGeom>
          <a:solidFill>
            <a:schemeClr val="accent6"/>
          </a:solidFill>
          <a:ln w="12700">
            <a:solidFill>
              <a:schemeClr val="accent6"/>
            </a:solidFill>
            <a:prstDash val="solid"/>
          </a:ln>
        </p:spPr>
      </p:sp>
      <p:sp>
        <p:nvSpPr>
          <p:cNvPr id="17" name="hex-label-88"/>
          <p:cNvSpPr txBox="1"/>
          <p:nvPr/>
        </p:nvSpPr>
        <p:spPr>
          <a:xfrm>
            <a:off x="8458200" y="1691640"/>
            <a:ext cx="914400" cy="795528"/>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8" name="text-89"/>
          <p:cNvSpPr txBox="1"/>
          <p:nvPr/>
        </p:nvSpPr>
        <p:spPr>
          <a:xfrm>
            <a:off x="8458200" y="2697480"/>
            <a:ext cx="2834640" cy="457200"/>
          </a:xfrm>
          <a:prstGeom prst="rect">
            <a:avLst/>
          </a:prstGeom>
          <a:noFill/>
          <a:ln/>
        </p:spPr>
        <p:txBody>
          <a:bodyPr wrap="square" lIns="0" tIns="0" rIns="0" bIns="0" rtlCol="0" anchor="t"/>
          <a:lstStyle/>
          <a:p>
            <a:pPr indent="0" marL="0">
              <a:buNone/>
            </a:pPr>
            <a:r>
              <a:rPr lang="en-US" sz="2200" b="1" dirty="0">
                <a:solidFill>
                  <a:schemeClr val="bg1"/>
                </a:solidFill>
              </a:rPr>
              <a:t>Bluetooth devices</a:t>
            </a:r>
            <a:endParaRPr lang="en-US" sz="2200" dirty="0"/>
          </a:p>
        </p:txBody>
      </p:sp>
      <p:sp>
        <p:nvSpPr>
          <p:cNvPr id="19" name="text-90"/>
          <p:cNvSpPr txBox="1"/>
          <p:nvPr/>
        </p:nvSpPr>
        <p:spPr>
          <a:xfrm>
            <a:off x="8458200" y="3154680"/>
            <a:ext cx="2834640" cy="365760"/>
          </a:xfrm>
          <a:prstGeom prst="rect">
            <a:avLst/>
          </a:prstGeom>
          <a:noFill/>
          <a:ln/>
        </p:spPr>
        <p:txBody>
          <a:bodyPr wrap="square" lIns="0" tIns="0" rIns="0" bIns="0" rtlCol="0" anchor="t"/>
          <a:lstStyle/>
          <a:p>
            <a:pPr indent="0" marL="0">
              <a:buNone/>
            </a:pPr>
            <a:r>
              <a:rPr lang="en-US" sz="1400" dirty="0">
                <a:solidFill>
                  <a:schemeClr val="accent5"/>
                </a:solidFill>
              </a:rPr>
              <a:t>bulbs · sensors · locks</a:t>
            </a:r>
            <a:endParaRPr lang="en-US" sz="1400" dirty="0"/>
          </a:p>
        </p:txBody>
      </p:sp>
      <p:sp>
        <p:nvSpPr>
          <p:cNvPr id="20" name="text-91"/>
          <p:cNvSpPr txBox="1"/>
          <p:nvPr/>
        </p:nvSpPr>
        <p:spPr>
          <a:xfrm>
            <a:off x="8458200" y="3611880"/>
            <a:ext cx="2834640" cy="1554480"/>
          </a:xfrm>
          <a:prstGeom prst="rect">
            <a:avLst/>
          </a:prstGeom>
          <a:noFill/>
          <a:ln/>
        </p:spPr>
        <p:txBody>
          <a:bodyPr wrap="square" lIns="0" tIns="0" rIns="0" bIns="0" rtlCol="0" anchor="t"/>
          <a:lstStyle/>
          <a:p>
            <a:pPr indent="0" marL="0">
              <a:buNone/>
            </a:pPr>
            <a:r>
              <a:rPr lang="en-US" sz="1600" dirty="0">
                <a:solidFill>
                  <a:schemeClr val="bg2"/>
                </a:solidFill>
              </a:rPr>
              <a:t>The ESP32's Bluetooth hub cuts a misbehaving device off the radio and refuses to let it back in</a:t>
            </a:r>
            <a:endParaRPr lang="en-US" sz="1600" dirty="0"/>
          </a:p>
        </p:txBody>
      </p:sp>
      <p:sp>
        <p:nvSpPr>
          <p:cNvPr id="21" name="card-92"/>
          <p:cNvSpPr/>
          <p:nvPr/>
        </p:nvSpPr>
        <p:spPr>
          <a:xfrm>
            <a:off x="548640" y="5532120"/>
            <a:ext cx="1645920" cy="502920"/>
          </a:xfrm>
          <a:prstGeom prst="roundRect">
            <a:avLst>
              <a:gd name="adj" fmla="val 21818"/>
            </a:avLst>
          </a:prstGeom>
          <a:solidFill>
            <a:schemeClr val="tx2"/>
          </a:solidFill>
          <a:ln w="12700">
            <a:solidFill>
              <a:schemeClr val="tx2"/>
            </a:solidFill>
            <a:prstDash val="solid"/>
          </a:ln>
        </p:spPr>
      </p:sp>
      <p:sp>
        <p:nvSpPr>
          <p:cNvPr id="22" name="text-93"/>
          <p:cNvSpPr txBox="1"/>
          <p:nvPr/>
        </p:nvSpPr>
        <p:spPr>
          <a:xfrm>
            <a:off x="548640" y="5532120"/>
            <a:ext cx="1645920" cy="502920"/>
          </a:xfrm>
          <a:prstGeom prst="rect">
            <a:avLst/>
          </a:prstGeom>
          <a:noFill/>
          <a:ln/>
        </p:spPr>
        <p:txBody>
          <a:bodyPr wrap="square" lIns="0" tIns="0" rIns="0" bIns="0" rtlCol="0" anchor="ctr"/>
          <a:lstStyle/>
          <a:p>
            <a:pPr algn="ctr" indent="0" marL="0">
              <a:buNone/>
            </a:pPr>
            <a:r>
              <a:rPr lang="en-US" sz="1400" b="1" dirty="0">
                <a:solidFill>
                  <a:schemeClr val="bg1"/>
                </a:solidFill>
              </a:rPr>
              <a:t>learn normal</a:t>
            </a:r>
            <a:endParaRPr lang="en-US" sz="1400" dirty="0"/>
          </a:p>
        </p:txBody>
      </p:sp>
      <p:sp>
        <p:nvSpPr>
          <p:cNvPr id="23" name="text-94"/>
          <p:cNvSpPr txBox="1"/>
          <p:nvPr/>
        </p:nvSpPr>
        <p:spPr>
          <a:xfrm>
            <a:off x="2194560" y="5532120"/>
            <a:ext cx="228600" cy="50292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24" name="card-95"/>
          <p:cNvSpPr/>
          <p:nvPr/>
        </p:nvSpPr>
        <p:spPr>
          <a:xfrm>
            <a:off x="2423160" y="5532120"/>
            <a:ext cx="1645920" cy="502920"/>
          </a:xfrm>
          <a:prstGeom prst="roundRect">
            <a:avLst>
              <a:gd name="adj" fmla="val 21818"/>
            </a:avLst>
          </a:prstGeom>
          <a:solidFill>
            <a:schemeClr val="tx2"/>
          </a:solidFill>
          <a:ln w="12700">
            <a:solidFill>
              <a:schemeClr val="tx2"/>
            </a:solidFill>
            <a:prstDash val="solid"/>
          </a:ln>
        </p:spPr>
      </p:sp>
      <p:sp>
        <p:nvSpPr>
          <p:cNvPr id="25" name="text-96"/>
          <p:cNvSpPr txBox="1"/>
          <p:nvPr/>
        </p:nvSpPr>
        <p:spPr>
          <a:xfrm>
            <a:off x="2423160" y="5532120"/>
            <a:ext cx="1645920" cy="502920"/>
          </a:xfrm>
          <a:prstGeom prst="rect">
            <a:avLst/>
          </a:prstGeom>
          <a:noFill/>
          <a:ln/>
        </p:spPr>
        <p:txBody>
          <a:bodyPr wrap="square" lIns="0" tIns="0" rIns="0" bIns="0" rtlCol="0" anchor="ctr"/>
          <a:lstStyle/>
          <a:p>
            <a:pPr algn="ctr" indent="0" marL="0">
              <a:buNone/>
            </a:pPr>
            <a:r>
              <a:rPr lang="en-US" sz="1400" b="1" dirty="0">
                <a:solidFill>
                  <a:schemeClr val="bg1"/>
                </a:solidFill>
              </a:rPr>
              <a:t>spot attack</a:t>
            </a:r>
            <a:endParaRPr lang="en-US" sz="1400" dirty="0"/>
          </a:p>
        </p:txBody>
      </p:sp>
      <p:sp>
        <p:nvSpPr>
          <p:cNvPr id="26" name="text-97"/>
          <p:cNvSpPr txBox="1"/>
          <p:nvPr/>
        </p:nvSpPr>
        <p:spPr>
          <a:xfrm>
            <a:off x="4069080" y="5532120"/>
            <a:ext cx="228600" cy="50292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27" name="card-98"/>
          <p:cNvSpPr/>
          <p:nvPr/>
        </p:nvSpPr>
        <p:spPr>
          <a:xfrm>
            <a:off x="4297680" y="5532120"/>
            <a:ext cx="1645920" cy="502920"/>
          </a:xfrm>
          <a:prstGeom prst="roundRect">
            <a:avLst>
              <a:gd name="adj" fmla="val 21818"/>
            </a:avLst>
          </a:prstGeom>
          <a:solidFill>
            <a:schemeClr val="tx2"/>
          </a:solidFill>
          <a:ln w="12700">
            <a:solidFill>
              <a:schemeClr val="tx2"/>
            </a:solidFill>
            <a:prstDash val="solid"/>
          </a:ln>
        </p:spPr>
      </p:sp>
      <p:sp>
        <p:nvSpPr>
          <p:cNvPr id="28" name="text-99"/>
          <p:cNvSpPr txBox="1"/>
          <p:nvPr/>
        </p:nvSpPr>
        <p:spPr>
          <a:xfrm>
            <a:off x="4297680" y="5532120"/>
            <a:ext cx="1645920" cy="502920"/>
          </a:xfrm>
          <a:prstGeom prst="rect">
            <a:avLst/>
          </a:prstGeom>
          <a:noFill/>
          <a:ln/>
        </p:spPr>
        <p:txBody>
          <a:bodyPr wrap="square" lIns="0" tIns="0" rIns="0" bIns="0" rtlCol="0" anchor="ctr"/>
          <a:lstStyle/>
          <a:p>
            <a:pPr algn="ctr" indent="0" marL="0">
              <a:buNone/>
            </a:pPr>
            <a:r>
              <a:rPr lang="en-US" sz="1400" b="1" dirty="0">
                <a:solidFill>
                  <a:schemeClr val="bg1"/>
                </a:solidFill>
              </a:rPr>
              <a:t>quarantine</a:t>
            </a:r>
            <a:endParaRPr lang="en-US" sz="1400" dirty="0"/>
          </a:p>
        </p:txBody>
      </p:sp>
      <p:sp>
        <p:nvSpPr>
          <p:cNvPr id="29" name="text-100"/>
          <p:cNvSpPr txBox="1"/>
          <p:nvPr/>
        </p:nvSpPr>
        <p:spPr>
          <a:xfrm>
            <a:off x="5943600" y="5532120"/>
            <a:ext cx="228600" cy="50292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30" name="card-101"/>
          <p:cNvSpPr/>
          <p:nvPr/>
        </p:nvSpPr>
        <p:spPr>
          <a:xfrm>
            <a:off x="6172200" y="5532120"/>
            <a:ext cx="1645920" cy="502920"/>
          </a:xfrm>
          <a:prstGeom prst="roundRect">
            <a:avLst>
              <a:gd name="adj" fmla="val 21818"/>
            </a:avLst>
          </a:prstGeom>
          <a:solidFill>
            <a:schemeClr val="tx2"/>
          </a:solidFill>
          <a:ln w="12700">
            <a:solidFill>
              <a:schemeClr val="tx2"/>
            </a:solidFill>
            <a:prstDash val="solid"/>
          </a:ln>
        </p:spPr>
      </p:sp>
      <p:sp>
        <p:nvSpPr>
          <p:cNvPr id="31" name="text-102"/>
          <p:cNvSpPr txBox="1"/>
          <p:nvPr/>
        </p:nvSpPr>
        <p:spPr>
          <a:xfrm>
            <a:off x="6172200" y="5532120"/>
            <a:ext cx="1645920" cy="502920"/>
          </a:xfrm>
          <a:prstGeom prst="rect">
            <a:avLst/>
          </a:prstGeom>
          <a:noFill/>
          <a:ln/>
        </p:spPr>
        <p:txBody>
          <a:bodyPr wrap="square" lIns="0" tIns="0" rIns="0" bIns="0" rtlCol="0" anchor="ctr"/>
          <a:lstStyle/>
          <a:p>
            <a:pPr algn="ctr" indent="0" marL="0">
              <a:buNone/>
            </a:pPr>
            <a:r>
              <a:rPr lang="en-US" sz="1400" b="1" dirty="0">
                <a:solidFill>
                  <a:schemeClr val="bg1"/>
                </a:solidFill>
              </a:rPr>
              <a:t>sign vaccine</a:t>
            </a:r>
            <a:endParaRPr lang="en-US" sz="1400" dirty="0"/>
          </a:p>
        </p:txBody>
      </p:sp>
      <p:sp>
        <p:nvSpPr>
          <p:cNvPr id="32" name="text-103"/>
          <p:cNvSpPr txBox="1"/>
          <p:nvPr/>
        </p:nvSpPr>
        <p:spPr>
          <a:xfrm>
            <a:off x="7818120" y="5532120"/>
            <a:ext cx="228600" cy="50292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33" name="card-104"/>
          <p:cNvSpPr/>
          <p:nvPr/>
        </p:nvSpPr>
        <p:spPr>
          <a:xfrm>
            <a:off x="8046720" y="5532120"/>
            <a:ext cx="1645920" cy="502920"/>
          </a:xfrm>
          <a:prstGeom prst="roundRect">
            <a:avLst>
              <a:gd name="adj" fmla="val 21818"/>
            </a:avLst>
          </a:prstGeom>
          <a:solidFill>
            <a:schemeClr val="tx2"/>
          </a:solidFill>
          <a:ln w="12700">
            <a:solidFill>
              <a:schemeClr val="tx2"/>
            </a:solidFill>
            <a:prstDash val="solid"/>
          </a:ln>
        </p:spPr>
      </p:sp>
      <p:sp>
        <p:nvSpPr>
          <p:cNvPr id="34" name="text-105"/>
          <p:cNvSpPr txBox="1"/>
          <p:nvPr/>
        </p:nvSpPr>
        <p:spPr>
          <a:xfrm>
            <a:off x="8046720" y="5532120"/>
            <a:ext cx="1645920" cy="502920"/>
          </a:xfrm>
          <a:prstGeom prst="rect">
            <a:avLst/>
          </a:prstGeom>
          <a:noFill/>
          <a:ln/>
        </p:spPr>
        <p:txBody>
          <a:bodyPr wrap="square" lIns="0" tIns="0" rIns="0" bIns="0" rtlCol="0" anchor="ctr"/>
          <a:lstStyle/>
          <a:p>
            <a:pPr algn="ctr" indent="0" marL="0">
              <a:buNone/>
            </a:pPr>
            <a:r>
              <a:rPr lang="en-US" sz="1400" b="1" dirty="0">
                <a:solidFill>
                  <a:schemeClr val="bg1"/>
                </a:solidFill>
              </a:rPr>
              <a:t>2 reports</a:t>
            </a:r>
            <a:endParaRPr lang="en-US" sz="1400" dirty="0"/>
          </a:p>
        </p:txBody>
      </p:sp>
      <p:sp>
        <p:nvSpPr>
          <p:cNvPr id="35" name="text-106"/>
          <p:cNvSpPr txBox="1"/>
          <p:nvPr/>
        </p:nvSpPr>
        <p:spPr>
          <a:xfrm>
            <a:off x="9692640" y="5532120"/>
            <a:ext cx="228600" cy="502920"/>
          </a:xfrm>
          <a:prstGeom prst="rect">
            <a:avLst/>
          </a:prstGeom>
          <a:noFill/>
          <a:ln/>
        </p:spPr>
        <p:txBody>
          <a:bodyPr wrap="square" lIns="0" tIns="0" rIns="0" bIns="0" rtlCol="0" anchor="ctr"/>
          <a:lstStyle/>
          <a:p>
            <a:pPr algn="ctr" indent="0" marL="0">
              <a:buNone/>
            </a:pPr>
            <a:r>
              <a:rPr lang="en-US" sz="2000" dirty="0">
                <a:solidFill>
                  <a:schemeClr val="accent1"/>
                </a:solidFill>
              </a:rPr>
              <a:t>›</a:t>
            </a:r>
            <a:endParaRPr lang="en-US" sz="2000" dirty="0"/>
          </a:p>
        </p:txBody>
      </p:sp>
      <p:sp>
        <p:nvSpPr>
          <p:cNvPr id="36" name="card-107"/>
          <p:cNvSpPr/>
          <p:nvPr/>
        </p:nvSpPr>
        <p:spPr>
          <a:xfrm>
            <a:off x="9921240" y="5532120"/>
            <a:ext cx="1645920" cy="502920"/>
          </a:xfrm>
          <a:prstGeom prst="roundRect">
            <a:avLst>
              <a:gd name="adj" fmla="val 21818"/>
            </a:avLst>
          </a:prstGeom>
          <a:solidFill>
            <a:schemeClr val="accent2"/>
          </a:solidFill>
          <a:ln w="12700">
            <a:solidFill>
              <a:schemeClr val="accent2"/>
            </a:solidFill>
            <a:prstDash val="solid"/>
          </a:ln>
        </p:spPr>
      </p:sp>
      <p:sp>
        <p:nvSpPr>
          <p:cNvPr id="37" name="text-108"/>
          <p:cNvSpPr txBox="1"/>
          <p:nvPr/>
        </p:nvSpPr>
        <p:spPr>
          <a:xfrm>
            <a:off x="9921240" y="5532120"/>
            <a:ext cx="1645920" cy="502920"/>
          </a:xfrm>
          <a:prstGeom prst="rect">
            <a:avLst/>
          </a:prstGeom>
          <a:noFill/>
          <a:ln/>
        </p:spPr>
        <p:txBody>
          <a:bodyPr wrap="square" lIns="0" tIns="0" rIns="0" bIns="0" rtlCol="0" anchor="ctr"/>
          <a:lstStyle/>
          <a:p>
            <a:pPr algn="ctr" indent="0" marL="0">
              <a:buNone/>
            </a:pPr>
            <a:r>
              <a:rPr lang="en-US" sz="1400" b="1" dirty="0">
                <a:solidFill>
                  <a:schemeClr val="tx1"/>
                </a:solidFill>
              </a:rPr>
              <a:t>immune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99B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A 152-byte AI model that runs on the chip</a:t>
            </a:r>
            <a:endParaRPr lang="en-US" sz="3600" dirty="0"/>
          </a:p>
        </p:txBody>
      </p:sp>
      <p:sp>
        <p:nvSpPr>
          <p:cNvPr id="3" name="card-109"/>
          <p:cNvSpPr/>
          <p:nvPr/>
        </p:nvSpPr>
        <p:spPr>
          <a:xfrm>
            <a:off x="548640" y="1417320"/>
            <a:ext cx="4206240" cy="1280160"/>
          </a:xfrm>
          <a:prstGeom prst="roundRect">
            <a:avLst>
              <a:gd name="adj" fmla="val 8571"/>
            </a:avLst>
          </a:prstGeom>
          <a:solidFill>
            <a:schemeClr val="tx2"/>
          </a:solidFill>
          <a:ln w="12700">
            <a:solidFill>
              <a:schemeClr val="tx2"/>
            </a:solidFill>
            <a:prstDash val="solid"/>
          </a:ln>
        </p:spPr>
      </p:sp>
      <p:sp>
        <p:nvSpPr>
          <p:cNvPr id="4" name="text-110"/>
          <p:cNvSpPr txBox="1"/>
          <p:nvPr/>
        </p:nvSpPr>
        <p:spPr>
          <a:xfrm>
            <a:off x="822960" y="1527048"/>
            <a:ext cx="3657600" cy="685800"/>
          </a:xfrm>
          <a:prstGeom prst="rect">
            <a:avLst/>
          </a:prstGeom>
          <a:noFill/>
          <a:ln/>
        </p:spPr>
        <p:txBody>
          <a:bodyPr wrap="square" lIns="0" tIns="0" rIns="0" bIns="0" rtlCol="0" anchor="t"/>
          <a:lstStyle/>
          <a:p>
            <a:pPr indent="0" marL="0">
              <a:buNone/>
            </a:pPr>
            <a:r>
              <a:rPr lang="en-US" sz="4000" b="1" dirty="0">
                <a:solidFill>
                  <a:schemeClr val="accent1"/>
                </a:solidFill>
              </a:rPr>
              <a:t>152 B</a:t>
            </a:r>
            <a:endParaRPr lang="en-US" sz="4000" dirty="0"/>
          </a:p>
        </p:txBody>
      </p:sp>
      <p:sp>
        <p:nvSpPr>
          <p:cNvPr id="5" name="text-111"/>
          <p:cNvSpPr txBox="1"/>
          <p:nvPr/>
        </p:nvSpPr>
        <p:spPr>
          <a:xfrm>
            <a:off x="822960" y="2194560"/>
            <a:ext cx="3657600" cy="411480"/>
          </a:xfrm>
          <a:prstGeom prst="rect">
            <a:avLst/>
          </a:prstGeom>
          <a:noFill/>
          <a:ln/>
        </p:spPr>
        <p:txBody>
          <a:bodyPr wrap="square" lIns="0" tIns="0" rIns="0" bIns="0" rtlCol="0" anchor="t"/>
          <a:lstStyle/>
          <a:p>
            <a:pPr indent="0" marL="0">
              <a:buNone/>
            </a:pPr>
            <a:r>
              <a:rPr lang="en-US" sz="1500" dirty="0">
                <a:solidFill>
                  <a:schemeClr val="bg2"/>
                </a:solidFill>
              </a:rPr>
              <a:t>model weights on the ESP32</a:t>
            </a:r>
            <a:endParaRPr lang="en-US" sz="1500" dirty="0"/>
          </a:p>
        </p:txBody>
      </p:sp>
      <p:sp>
        <p:nvSpPr>
          <p:cNvPr id="6" name="card-112"/>
          <p:cNvSpPr/>
          <p:nvPr/>
        </p:nvSpPr>
        <p:spPr>
          <a:xfrm>
            <a:off x="548640" y="2926080"/>
            <a:ext cx="4206240" cy="1280160"/>
          </a:xfrm>
          <a:prstGeom prst="roundRect">
            <a:avLst>
              <a:gd name="adj" fmla="val 8571"/>
            </a:avLst>
          </a:prstGeom>
          <a:solidFill>
            <a:schemeClr val="tx2"/>
          </a:solidFill>
          <a:ln w="12700">
            <a:solidFill>
              <a:schemeClr val="tx2"/>
            </a:solidFill>
            <a:prstDash val="solid"/>
          </a:ln>
        </p:spPr>
      </p:sp>
      <p:sp>
        <p:nvSpPr>
          <p:cNvPr id="7" name="text-113"/>
          <p:cNvSpPr txBox="1"/>
          <p:nvPr/>
        </p:nvSpPr>
        <p:spPr>
          <a:xfrm>
            <a:off x="822960" y="3035808"/>
            <a:ext cx="3657600" cy="685800"/>
          </a:xfrm>
          <a:prstGeom prst="rect">
            <a:avLst/>
          </a:prstGeom>
          <a:noFill/>
          <a:ln/>
        </p:spPr>
        <p:txBody>
          <a:bodyPr wrap="square" lIns="0" tIns="0" rIns="0" bIns="0" rtlCol="0" anchor="t"/>
          <a:lstStyle/>
          <a:p>
            <a:pPr indent="0" marL="0">
              <a:buNone/>
            </a:pPr>
            <a:r>
              <a:rPr lang="en-US" sz="4000" b="1" dirty="0">
                <a:solidFill>
                  <a:schemeClr val="accent1"/>
                </a:solidFill>
              </a:rPr>
              <a:t>~1.5 s</a:t>
            </a:r>
            <a:endParaRPr lang="en-US" sz="4000" dirty="0"/>
          </a:p>
        </p:txBody>
      </p:sp>
      <p:sp>
        <p:nvSpPr>
          <p:cNvPr id="8" name="text-114"/>
          <p:cNvSpPr txBox="1"/>
          <p:nvPr/>
        </p:nvSpPr>
        <p:spPr>
          <a:xfrm>
            <a:off x="822960" y="3703320"/>
            <a:ext cx="3657600" cy="411480"/>
          </a:xfrm>
          <a:prstGeom prst="rect">
            <a:avLst/>
          </a:prstGeom>
          <a:noFill/>
          <a:ln/>
        </p:spPr>
        <p:txBody>
          <a:bodyPr wrap="square" lIns="0" tIns="0" rIns="0" bIns="0" rtlCol="0" anchor="t"/>
          <a:lstStyle/>
          <a:p>
            <a:pPr indent="0" marL="0">
              <a:buNone/>
            </a:pPr>
            <a:r>
              <a:rPr lang="en-US" sz="1500" dirty="0">
                <a:solidFill>
                  <a:schemeClr val="bg2"/>
                </a:solidFill>
              </a:rPr>
              <a:t>to detect an attack on real hardware</a:t>
            </a:r>
            <a:endParaRPr lang="en-US" sz="1500" dirty="0"/>
          </a:p>
        </p:txBody>
      </p:sp>
      <p:sp>
        <p:nvSpPr>
          <p:cNvPr id="9" name="card-115"/>
          <p:cNvSpPr/>
          <p:nvPr/>
        </p:nvSpPr>
        <p:spPr>
          <a:xfrm>
            <a:off x="548640" y="4434840"/>
            <a:ext cx="4206240" cy="1280160"/>
          </a:xfrm>
          <a:prstGeom prst="roundRect">
            <a:avLst>
              <a:gd name="adj" fmla="val 8571"/>
            </a:avLst>
          </a:prstGeom>
          <a:solidFill>
            <a:schemeClr val="tx2"/>
          </a:solidFill>
          <a:ln w="12700">
            <a:solidFill>
              <a:schemeClr val="tx2"/>
            </a:solidFill>
            <a:prstDash val="solid"/>
          </a:ln>
        </p:spPr>
      </p:sp>
      <p:sp>
        <p:nvSpPr>
          <p:cNvPr id="10" name="text-116"/>
          <p:cNvSpPr txBox="1"/>
          <p:nvPr/>
        </p:nvSpPr>
        <p:spPr>
          <a:xfrm>
            <a:off x="822960" y="4544568"/>
            <a:ext cx="3657600" cy="685800"/>
          </a:xfrm>
          <a:prstGeom prst="rect">
            <a:avLst/>
          </a:prstGeom>
          <a:noFill/>
          <a:ln/>
        </p:spPr>
        <p:txBody>
          <a:bodyPr wrap="square" lIns="0" tIns="0" rIns="0" bIns="0" rtlCol="0" anchor="t"/>
          <a:lstStyle/>
          <a:p>
            <a:pPr indent="0" marL="0">
              <a:buNone/>
            </a:pPr>
            <a:r>
              <a:rPr lang="en-US" sz="4000" b="1" dirty="0">
                <a:solidFill>
                  <a:schemeClr val="accent1"/>
                </a:solidFill>
              </a:rPr>
              <a:t>0</a:t>
            </a:r>
            <a:endParaRPr lang="en-US" sz="4000" dirty="0"/>
          </a:p>
        </p:txBody>
      </p:sp>
      <p:sp>
        <p:nvSpPr>
          <p:cNvPr id="11" name="text-117"/>
          <p:cNvSpPr txBox="1"/>
          <p:nvPr/>
        </p:nvSpPr>
        <p:spPr>
          <a:xfrm>
            <a:off x="822960" y="5212080"/>
            <a:ext cx="3657600" cy="411480"/>
          </a:xfrm>
          <a:prstGeom prst="rect">
            <a:avLst/>
          </a:prstGeom>
          <a:noFill/>
          <a:ln/>
        </p:spPr>
        <p:txBody>
          <a:bodyPr wrap="square" lIns="0" tIns="0" rIns="0" bIns="0" rtlCol="0" anchor="t"/>
          <a:lstStyle/>
          <a:p>
            <a:pPr indent="0" marL="0">
              <a:buNone/>
            </a:pPr>
            <a:r>
              <a:rPr lang="en-US" sz="1500" dirty="0">
                <a:solidFill>
                  <a:schemeClr val="bg2"/>
                </a:solidFill>
              </a:rPr>
              <a:t>false alarms in 10-minute normal-traffic tests</a:t>
            </a:r>
            <a:endParaRPr lang="en-US" sz="1500" dirty="0"/>
          </a:p>
        </p:txBody>
      </p:sp>
      <p:sp>
        <p:nvSpPr>
          <p:cNvPr id="12" name="edge-118"/>
          <p:cNvSpPr/>
          <p:nvPr/>
        </p:nvSpPr>
        <p:spPr>
          <a:xfrm>
            <a:off x="5852160" y="2331720"/>
            <a:ext cx="1920240" cy="822960"/>
          </a:xfrm>
          <a:prstGeom prst="line">
            <a:avLst/>
          </a:prstGeom>
          <a:noFill/>
          <a:ln w="12700">
            <a:solidFill>
              <a:srgbClr val="3A4870"/>
            </a:solidFill>
            <a:prstDash val="solid"/>
          </a:ln>
        </p:spPr>
      </p:sp>
      <p:sp>
        <p:nvSpPr>
          <p:cNvPr id="13" name="edge-119"/>
          <p:cNvSpPr/>
          <p:nvPr/>
        </p:nvSpPr>
        <p:spPr>
          <a:xfrm>
            <a:off x="5852160" y="2331720"/>
            <a:ext cx="1920240" cy="1645920"/>
          </a:xfrm>
          <a:prstGeom prst="line">
            <a:avLst/>
          </a:prstGeom>
          <a:noFill/>
          <a:ln w="12700">
            <a:solidFill>
              <a:srgbClr val="3A4870"/>
            </a:solidFill>
            <a:prstDash val="solid"/>
          </a:ln>
        </p:spPr>
      </p:sp>
      <p:sp>
        <p:nvSpPr>
          <p:cNvPr id="14" name="edge-120"/>
          <p:cNvSpPr/>
          <p:nvPr/>
        </p:nvSpPr>
        <p:spPr>
          <a:xfrm>
            <a:off x="5852160" y="2331720"/>
            <a:ext cx="1920240" cy="2468880"/>
          </a:xfrm>
          <a:prstGeom prst="line">
            <a:avLst/>
          </a:prstGeom>
          <a:noFill/>
          <a:ln w="12700">
            <a:solidFill>
              <a:srgbClr val="3A4870"/>
            </a:solidFill>
            <a:prstDash val="solid"/>
          </a:ln>
        </p:spPr>
      </p:sp>
      <p:sp>
        <p:nvSpPr>
          <p:cNvPr id="15" name="edge-121"/>
          <p:cNvSpPr/>
          <p:nvPr/>
        </p:nvSpPr>
        <p:spPr>
          <a:xfrm>
            <a:off x="5852160" y="3154680"/>
            <a:ext cx="1920240" cy="0"/>
          </a:xfrm>
          <a:prstGeom prst="line">
            <a:avLst/>
          </a:prstGeom>
          <a:noFill/>
          <a:ln w="12700">
            <a:solidFill>
              <a:srgbClr val="3A4870"/>
            </a:solidFill>
            <a:prstDash val="solid"/>
          </a:ln>
        </p:spPr>
      </p:sp>
      <p:sp>
        <p:nvSpPr>
          <p:cNvPr id="16" name="edge-122"/>
          <p:cNvSpPr/>
          <p:nvPr/>
        </p:nvSpPr>
        <p:spPr>
          <a:xfrm>
            <a:off x="5852160" y="3154680"/>
            <a:ext cx="1920240" cy="822960"/>
          </a:xfrm>
          <a:prstGeom prst="line">
            <a:avLst/>
          </a:prstGeom>
          <a:noFill/>
          <a:ln w="12700">
            <a:solidFill>
              <a:srgbClr val="3A4870"/>
            </a:solidFill>
            <a:prstDash val="solid"/>
          </a:ln>
        </p:spPr>
      </p:sp>
      <p:sp>
        <p:nvSpPr>
          <p:cNvPr id="17" name="edge-123"/>
          <p:cNvSpPr/>
          <p:nvPr/>
        </p:nvSpPr>
        <p:spPr>
          <a:xfrm>
            <a:off x="5852160" y="3154680"/>
            <a:ext cx="1920240" cy="1645920"/>
          </a:xfrm>
          <a:prstGeom prst="line">
            <a:avLst/>
          </a:prstGeom>
          <a:noFill/>
          <a:ln w="12700">
            <a:solidFill>
              <a:srgbClr val="3A4870"/>
            </a:solidFill>
            <a:prstDash val="solid"/>
          </a:ln>
        </p:spPr>
      </p:sp>
      <p:sp>
        <p:nvSpPr>
          <p:cNvPr id="18" name="edge-124"/>
          <p:cNvSpPr/>
          <p:nvPr/>
        </p:nvSpPr>
        <p:spPr>
          <a:xfrm flipV="1">
            <a:off x="5852160" y="3154680"/>
            <a:ext cx="1920240" cy="822960"/>
          </a:xfrm>
          <a:prstGeom prst="line">
            <a:avLst/>
          </a:prstGeom>
          <a:noFill/>
          <a:ln w="12700">
            <a:solidFill>
              <a:srgbClr val="3A4870"/>
            </a:solidFill>
            <a:prstDash val="solid"/>
          </a:ln>
        </p:spPr>
      </p:sp>
      <p:sp>
        <p:nvSpPr>
          <p:cNvPr id="19" name="edge-125"/>
          <p:cNvSpPr/>
          <p:nvPr/>
        </p:nvSpPr>
        <p:spPr>
          <a:xfrm>
            <a:off x="5852160" y="3977640"/>
            <a:ext cx="1920240" cy="0"/>
          </a:xfrm>
          <a:prstGeom prst="line">
            <a:avLst/>
          </a:prstGeom>
          <a:noFill/>
          <a:ln w="12700">
            <a:solidFill>
              <a:srgbClr val="3A4870"/>
            </a:solidFill>
            <a:prstDash val="solid"/>
          </a:ln>
        </p:spPr>
      </p:sp>
      <p:sp>
        <p:nvSpPr>
          <p:cNvPr id="20" name="edge-126"/>
          <p:cNvSpPr/>
          <p:nvPr/>
        </p:nvSpPr>
        <p:spPr>
          <a:xfrm>
            <a:off x="5852160" y="3977640"/>
            <a:ext cx="1920240" cy="822960"/>
          </a:xfrm>
          <a:prstGeom prst="line">
            <a:avLst/>
          </a:prstGeom>
          <a:noFill/>
          <a:ln w="12700">
            <a:solidFill>
              <a:srgbClr val="3A4870"/>
            </a:solidFill>
            <a:prstDash val="solid"/>
          </a:ln>
        </p:spPr>
      </p:sp>
      <p:sp>
        <p:nvSpPr>
          <p:cNvPr id="21" name="edge-127"/>
          <p:cNvSpPr/>
          <p:nvPr/>
        </p:nvSpPr>
        <p:spPr>
          <a:xfrm flipV="1">
            <a:off x="5852160" y="3154680"/>
            <a:ext cx="1920240" cy="1645920"/>
          </a:xfrm>
          <a:prstGeom prst="line">
            <a:avLst/>
          </a:prstGeom>
          <a:noFill/>
          <a:ln w="12700">
            <a:solidFill>
              <a:srgbClr val="3A4870"/>
            </a:solidFill>
            <a:prstDash val="solid"/>
          </a:ln>
        </p:spPr>
      </p:sp>
      <p:sp>
        <p:nvSpPr>
          <p:cNvPr id="22" name="edge-128"/>
          <p:cNvSpPr/>
          <p:nvPr/>
        </p:nvSpPr>
        <p:spPr>
          <a:xfrm flipV="1">
            <a:off x="5852160" y="3977640"/>
            <a:ext cx="1920240" cy="822960"/>
          </a:xfrm>
          <a:prstGeom prst="line">
            <a:avLst/>
          </a:prstGeom>
          <a:noFill/>
          <a:ln w="12700">
            <a:solidFill>
              <a:srgbClr val="3A4870"/>
            </a:solidFill>
            <a:prstDash val="solid"/>
          </a:ln>
        </p:spPr>
      </p:sp>
      <p:sp>
        <p:nvSpPr>
          <p:cNvPr id="23" name="edge-129"/>
          <p:cNvSpPr/>
          <p:nvPr/>
        </p:nvSpPr>
        <p:spPr>
          <a:xfrm flipV="1">
            <a:off x="5852160" y="4800600"/>
            <a:ext cx="1920240" cy="0"/>
          </a:xfrm>
          <a:prstGeom prst="line">
            <a:avLst/>
          </a:prstGeom>
          <a:noFill/>
          <a:ln w="12700">
            <a:solidFill>
              <a:srgbClr val="3A4870"/>
            </a:solidFill>
            <a:prstDash val="solid"/>
          </a:ln>
        </p:spPr>
      </p:sp>
      <p:sp>
        <p:nvSpPr>
          <p:cNvPr id="24" name="edge-130"/>
          <p:cNvSpPr/>
          <p:nvPr/>
        </p:nvSpPr>
        <p:spPr>
          <a:xfrm flipV="1">
            <a:off x="5852160" y="3154680"/>
            <a:ext cx="1920240" cy="2468880"/>
          </a:xfrm>
          <a:prstGeom prst="line">
            <a:avLst/>
          </a:prstGeom>
          <a:noFill/>
          <a:ln w="12700">
            <a:solidFill>
              <a:srgbClr val="3A4870"/>
            </a:solidFill>
            <a:prstDash val="solid"/>
          </a:ln>
        </p:spPr>
      </p:sp>
      <p:sp>
        <p:nvSpPr>
          <p:cNvPr id="25" name="edge-131"/>
          <p:cNvSpPr/>
          <p:nvPr/>
        </p:nvSpPr>
        <p:spPr>
          <a:xfrm flipV="1">
            <a:off x="5852160" y="3977640"/>
            <a:ext cx="1920240" cy="1645920"/>
          </a:xfrm>
          <a:prstGeom prst="line">
            <a:avLst/>
          </a:prstGeom>
          <a:noFill/>
          <a:ln w="12700">
            <a:solidFill>
              <a:srgbClr val="3A4870"/>
            </a:solidFill>
            <a:prstDash val="solid"/>
          </a:ln>
        </p:spPr>
      </p:sp>
      <p:sp>
        <p:nvSpPr>
          <p:cNvPr id="26" name="edge-132"/>
          <p:cNvSpPr/>
          <p:nvPr/>
        </p:nvSpPr>
        <p:spPr>
          <a:xfrm flipV="1">
            <a:off x="5852160" y="4800600"/>
            <a:ext cx="1920240" cy="822960"/>
          </a:xfrm>
          <a:prstGeom prst="line">
            <a:avLst/>
          </a:prstGeom>
          <a:noFill/>
          <a:ln w="12700">
            <a:solidFill>
              <a:srgbClr val="3A4870"/>
            </a:solidFill>
            <a:prstDash val="solid"/>
          </a:ln>
        </p:spPr>
      </p:sp>
      <p:sp>
        <p:nvSpPr>
          <p:cNvPr id="27" name="edge-133"/>
          <p:cNvSpPr/>
          <p:nvPr/>
        </p:nvSpPr>
        <p:spPr>
          <a:xfrm flipV="1">
            <a:off x="7772400" y="2331720"/>
            <a:ext cx="1920240" cy="822960"/>
          </a:xfrm>
          <a:prstGeom prst="line">
            <a:avLst/>
          </a:prstGeom>
          <a:noFill/>
          <a:ln w="12700">
            <a:solidFill>
              <a:srgbClr val="3A4870"/>
            </a:solidFill>
            <a:prstDash val="solid"/>
          </a:ln>
        </p:spPr>
      </p:sp>
      <p:sp>
        <p:nvSpPr>
          <p:cNvPr id="28" name="edge-134"/>
          <p:cNvSpPr/>
          <p:nvPr/>
        </p:nvSpPr>
        <p:spPr>
          <a:xfrm>
            <a:off x="7772400" y="3154680"/>
            <a:ext cx="1920240" cy="0"/>
          </a:xfrm>
          <a:prstGeom prst="line">
            <a:avLst/>
          </a:prstGeom>
          <a:noFill/>
          <a:ln w="12700">
            <a:solidFill>
              <a:srgbClr val="3A4870"/>
            </a:solidFill>
            <a:prstDash val="solid"/>
          </a:ln>
        </p:spPr>
      </p:sp>
      <p:sp>
        <p:nvSpPr>
          <p:cNvPr id="29" name="edge-135"/>
          <p:cNvSpPr/>
          <p:nvPr/>
        </p:nvSpPr>
        <p:spPr>
          <a:xfrm>
            <a:off x="7772400" y="3154680"/>
            <a:ext cx="1920240" cy="822960"/>
          </a:xfrm>
          <a:prstGeom prst="line">
            <a:avLst/>
          </a:prstGeom>
          <a:noFill/>
          <a:ln w="12700">
            <a:solidFill>
              <a:srgbClr val="3A4870"/>
            </a:solidFill>
            <a:prstDash val="solid"/>
          </a:ln>
        </p:spPr>
      </p:sp>
      <p:sp>
        <p:nvSpPr>
          <p:cNvPr id="30" name="edge-136"/>
          <p:cNvSpPr/>
          <p:nvPr/>
        </p:nvSpPr>
        <p:spPr>
          <a:xfrm>
            <a:off x="7772400" y="3154680"/>
            <a:ext cx="1920240" cy="1645920"/>
          </a:xfrm>
          <a:prstGeom prst="line">
            <a:avLst/>
          </a:prstGeom>
          <a:noFill/>
          <a:ln w="12700">
            <a:solidFill>
              <a:srgbClr val="3A4870"/>
            </a:solidFill>
            <a:prstDash val="solid"/>
          </a:ln>
        </p:spPr>
      </p:sp>
      <p:sp>
        <p:nvSpPr>
          <p:cNvPr id="31" name="edge-137"/>
          <p:cNvSpPr/>
          <p:nvPr/>
        </p:nvSpPr>
        <p:spPr>
          <a:xfrm>
            <a:off x="7772400" y="3154680"/>
            <a:ext cx="1920240" cy="2468880"/>
          </a:xfrm>
          <a:prstGeom prst="line">
            <a:avLst/>
          </a:prstGeom>
          <a:noFill/>
          <a:ln w="12700">
            <a:solidFill>
              <a:srgbClr val="3A4870"/>
            </a:solidFill>
            <a:prstDash val="solid"/>
          </a:ln>
        </p:spPr>
      </p:sp>
      <p:sp>
        <p:nvSpPr>
          <p:cNvPr id="32" name="edge-138"/>
          <p:cNvSpPr/>
          <p:nvPr/>
        </p:nvSpPr>
        <p:spPr>
          <a:xfrm flipV="1">
            <a:off x="7772400" y="2331720"/>
            <a:ext cx="1920240" cy="1645920"/>
          </a:xfrm>
          <a:prstGeom prst="line">
            <a:avLst/>
          </a:prstGeom>
          <a:noFill/>
          <a:ln w="12700">
            <a:solidFill>
              <a:srgbClr val="3A4870"/>
            </a:solidFill>
            <a:prstDash val="solid"/>
          </a:ln>
        </p:spPr>
      </p:sp>
      <p:sp>
        <p:nvSpPr>
          <p:cNvPr id="33" name="edge-139"/>
          <p:cNvSpPr/>
          <p:nvPr/>
        </p:nvSpPr>
        <p:spPr>
          <a:xfrm flipV="1">
            <a:off x="7772400" y="3154680"/>
            <a:ext cx="1920240" cy="822960"/>
          </a:xfrm>
          <a:prstGeom prst="line">
            <a:avLst/>
          </a:prstGeom>
          <a:noFill/>
          <a:ln w="12700">
            <a:solidFill>
              <a:srgbClr val="3A4870"/>
            </a:solidFill>
            <a:prstDash val="solid"/>
          </a:ln>
        </p:spPr>
      </p:sp>
      <p:sp>
        <p:nvSpPr>
          <p:cNvPr id="34" name="edge-140"/>
          <p:cNvSpPr/>
          <p:nvPr/>
        </p:nvSpPr>
        <p:spPr>
          <a:xfrm>
            <a:off x="7772400" y="3977640"/>
            <a:ext cx="1920240" cy="0"/>
          </a:xfrm>
          <a:prstGeom prst="line">
            <a:avLst/>
          </a:prstGeom>
          <a:noFill/>
          <a:ln w="12700">
            <a:solidFill>
              <a:srgbClr val="3A4870"/>
            </a:solidFill>
            <a:prstDash val="solid"/>
          </a:ln>
        </p:spPr>
      </p:sp>
      <p:sp>
        <p:nvSpPr>
          <p:cNvPr id="35" name="edge-141"/>
          <p:cNvSpPr/>
          <p:nvPr/>
        </p:nvSpPr>
        <p:spPr>
          <a:xfrm>
            <a:off x="7772400" y="3977640"/>
            <a:ext cx="1920240" cy="822960"/>
          </a:xfrm>
          <a:prstGeom prst="line">
            <a:avLst/>
          </a:prstGeom>
          <a:noFill/>
          <a:ln w="12700">
            <a:solidFill>
              <a:srgbClr val="3A4870"/>
            </a:solidFill>
            <a:prstDash val="solid"/>
          </a:ln>
        </p:spPr>
      </p:sp>
      <p:sp>
        <p:nvSpPr>
          <p:cNvPr id="36" name="edge-142"/>
          <p:cNvSpPr/>
          <p:nvPr/>
        </p:nvSpPr>
        <p:spPr>
          <a:xfrm>
            <a:off x="7772400" y="3977640"/>
            <a:ext cx="1920240" cy="1645920"/>
          </a:xfrm>
          <a:prstGeom prst="line">
            <a:avLst/>
          </a:prstGeom>
          <a:noFill/>
          <a:ln w="12700">
            <a:solidFill>
              <a:srgbClr val="3A4870"/>
            </a:solidFill>
            <a:prstDash val="solid"/>
          </a:ln>
        </p:spPr>
      </p:sp>
      <p:sp>
        <p:nvSpPr>
          <p:cNvPr id="37" name="edge-143"/>
          <p:cNvSpPr/>
          <p:nvPr/>
        </p:nvSpPr>
        <p:spPr>
          <a:xfrm flipV="1">
            <a:off x="7772400" y="2331720"/>
            <a:ext cx="1920240" cy="2468880"/>
          </a:xfrm>
          <a:prstGeom prst="line">
            <a:avLst/>
          </a:prstGeom>
          <a:noFill/>
          <a:ln w="12700">
            <a:solidFill>
              <a:srgbClr val="3A4870"/>
            </a:solidFill>
            <a:prstDash val="solid"/>
          </a:ln>
        </p:spPr>
      </p:sp>
      <p:sp>
        <p:nvSpPr>
          <p:cNvPr id="38" name="edge-144"/>
          <p:cNvSpPr/>
          <p:nvPr/>
        </p:nvSpPr>
        <p:spPr>
          <a:xfrm flipV="1">
            <a:off x="7772400" y="3154680"/>
            <a:ext cx="1920240" cy="1645920"/>
          </a:xfrm>
          <a:prstGeom prst="line">
            <a:avLst/>
          </a:prstGeom>
          <a:noFill/>
          <a:ln w="12700">
            <a:solidFill>
              <a:srgbClr val="3A4870"/>
            </a:solidFill>
            <a:prstDash val="solid"/>
          </a:ln>
        </p:spPr>
      </p:sp>
      <p:sp>
        <p:nvSpPr>
          <p:cNvPr id="39" name="edge-145"/>
          <p:cNvSpPr/>
          <p:nvPr/>
        </p:nvSpPr>
        <p:spPr>
          <a:xfrm flipV="1">
            <a:off x="7772400" y="3977640"/>
            <a:ext cx="1920240" cy="822960"/>
          </a:xfrm>
          <a:prstGeom prst="line">
            <a:avLst/>
          </a:prstGeom>
          <a:noFill/>
          <a:ln w="12700">
            <a:solidFill>
              <a:srgbClr val="3A4870"/>
            </a:solidFill>
            <a:prstDash val="solid"/>
          </a:ln>
        </p:spPr>
      </p:sp>
      <p:sp>
        <p:nvSpPr>
          <p:cNvPr id="40" name="edge-146"/>
          <p:cNvSpPr/>
          <p:nvPr/>
        </p:nvSpPr>
        <p:spPr>
          <a:xfrm>
            <a:off x="7772400" y="4800600"/>
            <a:ext cx="1920240" cy="0"/>
          </a:xfrm>
          <a:prstGeom prst="line">
            <a:avLst/>
          </a:prstGeom>
          <a:noFill/>
          <a:ln w="12700">
            <a:solidFill>
              <a:srgbClr val="3A4870"/>
            </a:solidFill>
            <a:prstDash val="solid"/>
          </a:ln>
        </p:spPr>
      </p:sp>
      <p:sp>
        <p:nvSpPr>
          <p:cNvPr id="41" name="edge-147"/>
          <p:cNvSpPr/>
          <p:nvPr/>
        </p:nvSpPr>
        <p:spPr>
          <a:xfrm>
            <a:off x="7772400" y="4800600"/>
            <a:ext cx="1920240" cy="822960"/>
          </a:xfrm>
          <a:prstGeom prst="line">
            <a:avLst/>
          </a:prstGeom>
          <a:noFill/>
          <a:ln w="12700">
            <a:solidFill>
              <a:srgbClr val="3A4870"/>
            </a:solidFill>
            <a:prstDash val="solid"/>
          </a:ln>
        </p:spPr>
      </p:sp>
      <p:sp>
        <p:nvSpPr>
          <p:cNvPr id="42" name="neuron-148"/>
          <p:cNvSpPr/>
          <p:nvPr/>
        </p:nvSpPr>
        <p:spPr>
          <a:xfrm>
            <a:off x="5669280" y="2148840"/>
            <a:ext cx="365760" cy="365760"/>
          </a:xfrm>
          <a:prstGeom prst="ellipse">
            <a:avLst/>
          </a:prstGeom>
          <a:solidFill>
            <a:schemeClr val="accent4"/>
          </a:solidFill>
          <a:ln w="12700">
            <a:solidFill>
              <a:schemeClr val="tx1"/>
            </a:solidFill>
            <a:prstDash val="solid"/>
          </a:ln>
        </p:spPr>
      </p:sp>
      <p:sp>
        <p:nvSpPr>
          <p:cNvPr id="43" name="neuron-149"/>
          <p:cNvSpPr/>
          <p:nvPr/>
        </p:nvSpPr>
        <p:spPr>
          <a:xfrm>
            <a:off x="5669280" y="2971800"/>
            <a:ext cx="365760" cy="365760"/>
          </a:xfrm>
          <a:prstGeom prst="ellipse">
            <a:avLst/>
          </a:prstGeom>
          <a:solidFill>
            <a:schemeClr val="accent4"/>
          </a:solidFill>
          <a:ln w="12700">
            <a:solidFill>
              <a:schemeClr val="tx1"/>
            </a:solidFill>
            <a:prstDash val="solid"/>
          </a:ln>
        </p:spPr>
      </p:sp>
      <p:sp>
        <p:nvSpPr>
          <p:cNvPr id="44" name="neuron-150"/>
          <p:cNvSpPr/>
          <p:nvPr/>
        </p:nvSpPr>
        <p:spPr>
          <a:xfrm>
            <a:off x="5669280" y="3794760"/>
            <a:ext cx="365760" cy="365760"/>
          </a:xfrm>
          <a:prstGeom prst="ellipse">
            <a:avLst/>
          </a:prstGeom>
          <a:solidFill>
            <a:schemeClr val="accent4"/>
          </a:solidFill>
          <a:ln w="12700">
            <a:solidFill>
              <a:schemeClr val="tx1"/>
            </a:solidFill>
            <a:prstDash val="solid"/>
          </a:ln>
        </p:spPr>
      </p:sp>
      <p:sp>
        <p:nvSpPr>
          <p:cNvPr id="45" name="neuron-151"/>
          <p:cNvSpPr/>
          <p:nvPr/>
        </p:nvSpPr>
        <p:spPr>
          <a:xfrm>
            <a:off x="5669280" y="4617720"/>
            <a:ext cx="365760" cy="365760"/>
          </a:xfrm>
          <a:prstGeom prst="ellipse">
            <a:avLst/>
          </a:prstGeom>
          <a:solidFill>
            <a:schemeClr val="accent4"/>
          </a:solidFill>
          <a:ln w="12700">
            <a:solidFill>
              <a:schemeClr val="tx1"/>
            </a:solidFill>
            <a:prstDash val="solid"/>
          </a:ln>
        </p:spPr>
      </p:sp>
      <p:sp>
        <p:nvSpPr>
          <p:cNvPr id="46" name="neuron-152"/>
          <p:cNvSpPr/>
          <p:nvPr/>
        </p:nvSpPr>
        <p:spPr>
          <a:xfrm>
            <a:off x="5669280" y="5440680"/>
            <a:ext cx="365760" cy="365760"/>
          </a:xfrm>
          <a:prstGeom prst="ellipse">
            <a:avLst/>
          </a:prstGeom>
          <a:solidFill>
            <a:schemeClr val="accent4"/>
          </a:solidFill>
          <a:ln w="12700">
            <a:solidFill>
              <a:schemeClr val="tx1"/>
            </a:solidFill>
            <a:prstDash val="solid"/>
          </a:ln>
        </p:spPr>
      </p:sp>
      <p:sp>
        <p:nvSpPr>
          <p:cNvPr id="47" name="neuron-153"/>
          <p:cNvSpPr/>
          <p:nvPr/>
        </p:nvSpPr>
        <p:spPr>
          <a:xfrm>
            <a:off x="7589520" y="2971800"/>
            <a:ext cx="365760" cy="365760"/>
          </a:xfrm>
          <a:prstGeom prst="ellipse">
            <a:avLst/>
          </a:prstGeom>
          <a:solidFill>
            <a:schemeClr val="accent1"/>
          </a:solidFill>
          <a:ln w="12700">
            <a:solidFill>
              <a:schemeClr val="tx1"/>
            </a:solidFill>
            <a:prstDash val="solid"/>
          </a:ln>
        </p:spPr>
      </p:sp>
      <p:sp>
        <p:nvSpPr>
          <p:cNvPr id="48" name="neuron-154"/>
          <p:cNvSpPr/>
          <p:nvPr/>
        </p:nvSpPr>
        <p:spPr>
          <a:xfrm>
            <a:off x="7589520" y="3794760"/>
            <a:ext cx="365760" cy="365760"/>
          </a:xfrm>
          <a:prstGeom prst="ellipse">
            <a:avLst/>
          </a:prstGeom>
          <a:solidFill>
            <a:schemeClr val="accent1"/>
          </a:solidFill>
          <a:ln w="12700">
            <a:solidFill>
              <a:schemeClr val="tx1"/>
            </a:solidFill>
            <a:prstDash val="solid"/>
          </a:ln>
        </p:spPr>
      </p:sp>
      <p:sp>
        <p:nvSpPr>
          <p:cNvPr id="49" name="neuron-155"/>
          <p:cNvSpPr/>
          <p:nvPr/>
        </p:nvSpPr>
        <p:spPr>
          <a:xfrm>
            <a:off x="7589520" y="4617720"/>
            <a:ext cx="365760" cy="365760"/>
          </a:xfrm>
          <a:prstGeom prst="ellipse">
            <a:avLst/>
          </a:prstGeom>
          <a:solidFill>
            <a:schemeClr val="accent1"/>
          </a:solidFill>
          <a:ln w="12700">
            <a:solidFill>
              <a:schemeClr val="tx1"/>
            </a:solidFill>
            <a:prstDash val="solid"/>
          </a:ln>
        </p:spPr>
      </p:sp>
      <p:sp>
        <p:nvSpPr>
          <p:cNvPr id="50" name="neuron-156"/>
          <p:cNvSpPr/>
          <p:nvPr/>
        </p:nvSpPr>
        <p:spPr>
          <a:xfrm>
            <a:off x="9509760" y="2148840"/>
            <a:ext cx="365760" cy="365760"/>
          </a:xfrm>
          <a:prstGeom prst="ellipse">
            <a:avLst/>
          </a:prstGeom>
          <a:solidFill>
            <a:schemeClr val="accent4"/>
          </a:solidFill>
          <a:ln w="12700">
            <a:solidFill>
              <a:schemeClr val="tx1"/>
            </a:solidFill>
            <a:prstDash val="solid"/>
          </a:ln>
        </p:spPr>
      </p:sp>
      <p:sp>
        <p:nvSpPr>
          <p:cNvPr id="51" name="neuron-157"/>
          <p:cNvSpPr/>
          <p:nvPr/>
        </p:nvSpPr>
        <p:spPr>
          <a:xfrm>
            <a:off x="9509760" y="2971800"/>
            <a:ext cx="365760" cy="365760"/>
          </a:xfrm>
          <a:prstGeom prst="ellipse">
            <a:avLst/>
          </a:prstGeom>
          <a:solidFill>
            <a:schemeClr val="accent4"/>
          </a:solidFill>
          <a:ln w="12700">
            <a:solidFill>
              <a:schemeClr val="tx1"/>
            </a:solidFill>
            <a:prstDash val="solid"/>
          </a:ln>
        </p:spPr>
      </p:sp>
      <p:sp>
        <p:nvSpPr>
          <p:cNvPr id="52" name="neuron-158"/>
          <p:cNvSpPr/>
          <p:nvPr/>
        </p:nvSpPr>
        <p:spPr>
          <a:xfrm>
            <a:off x="9509760" y="3794760"/>
            <a:ext cx="365760" cy="365760"/>
          </a:xfrm>
          <a:prstGeom prst="ellipse">
            <a:avLst/>
          </a:prstGeom>
          <a:solidFill>
            <a:schemeClr val="accent4"/>
          </a:solidFill>
          <a:ln w="12700">
            <a:solidFill>
              <a:schemeClr val="tx1"/>
            </a:solidFill>
            <a:prstDash val="solid"/>
          </a:ln>
        </p:spPr>
      </p:sp>
      <p:sp>
        <p:nvSpPr>
          <p:cNvPr id="53" name="neuron-159"/>
          <p:cNvSpPr/>
          <p:nvPr/>
        </p:nvSpPr>
        <p:spPr>
          <a:xfrm>
            <a:off x="9509760" y="4617720"/>
            <a:ext cx="365760" cy="365760"/>
          </a:xfrm>
          <a:prstGeom prst="ellipse">
            <a:avLst/>
          </a:prstGeom>
          <a:solidFill>
            <a:schemeClr val="accent4"/>
          </a:solidFill>
          <a:ln w="12700">
            <a:solidFill>
              <a:schemeClr val="tx1"/>
            </a:solidFill>
            <a:prstDash val="solid"/>
          </a:ln>
        </p:spPr>
      </p:sp>
      <p:sp>
        <p:nvSpPr>
          <p:cNvPr id="54" name="neuron-160"/>
          <p:cNvSpPr/>
          <p:nvPr/>
        </p:nvSpPr>
        <p:spPr>
          <a:xfrm>
            <a:off x="9509760" y="5440680"/>
            <a:ext cx="365760" cy="365760"/>
          </a:xfrm>
          <a:prstGeom prst="ellipse">
            <a:avLst/>
          </a:prstGeom>
          <a:solidFill>
            <a:schemeClr val="accent4"/>
          </a:solidFill>
          <a:ln w="12700">
            <a:solidFill>
              <a:schemeClr val="tx1"/>
            </a:solidFill>
            <a:prstDash val="solid"/>
          </a:ln>
        </p:spPr>
      </p:sp>
      <p:sp>
        <p:nvSpPr>
          <p:cNvPr id="55" name="text-161"/>
          <p:cNvSpPr txBox="1"/>
          <p:nvPr/>
        </p:nvSpPr>
        <p:spPr>
          <a:xfrm>
            <a:off x="5394960" y="5897880"/>
            <a:ext cx="6217920" cy="411480"/>
          </a:xfrm>
          <a:prstGeom prst="rect">
            <a:avLst/>
          </a:prstGeom>
          <a:noFill/>
          <a:ln/>
        </p:spPr>
        <p:txBody>
          <a:bodyPr wrap="square" lIns="0" tIns="0" rIns="0" bIns="0" rtlCol="0" anchor="t"/>
          <a:lstStyle/>
          <a:p>
            <a:pPr algn="ctr" indent="0" marL="0">
              <a:buNone/>
            </a:pPr>
            <a:r>
              <a:rPr lang="en-US" sz="1500" dirty="0">
                <a:solidFill>
                  <a:schemeClr val="bg2"/>
                </a:solidFill>
              </a:rPr>
              <a:t>5 traffic features in  →  3  →  5 back out. Can't rebuild the traffic? It isn't normal.</a:t>
            </a:r>
            <a:endParaRPr lang="en-US" sz="1500" dirty="0"/>
          </a:p>
        </p:txBody>
      </p:sp>
      <p:sp>
        <p:nvSpPr>
          <p:cNvPr id="56" name="text-162"/>
          <p:cNvSpPr txBox="1"/>
          <p:nvPr/>
        </p:nvSpPr>
        <p:spPr>
          <a:xfrm>
            <a:off x="5394960" y="1371600"/>
            <a:ext cx="6217920" cy="365760"/>
          </a:xfrm>
          <a:prstGeom prst="rect">
            <a:avLst/>
          </a:prstGeom>
          <a:noFill/>
          <a:ln/>
        </p:spPr>
        <p:txBody>
          <a:bodyPr wrap="square" lIns="0" tIns="0" rIns="0" bIns="0" rtlCol="0" anchor="t"/>
          <a:lstStyle/>
          <a:p>
            <a:pPr algn="ctr" indent="0" marL="0">
              <a:buNone/>
            </a:pPr>
            <a:r>
              <a:rPr lang="en-US" sz="1300" dirty="0">
                <a:solidFill>
                  <a:schemeClr val="accent5"/>
                </a:solidFill>
              </a:rPr>
              <a:t>messages/s · senders · unknown share · malformed share · size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99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Can the vaccine itself be hacked? We tried</a:t>
            </a:r>
            <a:endParaRPr lang="en-US" sz="3600" dirty="0"/>
          </a:p>
        </p:txBody>
      </p:sp>
      <p:sp>
        <p:nvSpPr>
          <p:cNvPr id="3" name="card-163"/>
          <p:cNvSpPr/>
          <p:nvPr/>
        </p:nvSpPr>
        <p:spPr>
          <a:xfrm>
            <a:off x="548640" y="1463040"/>
            <a:ext cx="2606040" cy="1874520"/>
          </a:xfrm>
          <a:prstGeom prst="roundRect">
            <a:avLst>
              <a:gd name="adj" fmla="val 5854"/>
            </a:avLst>
          </a:prstGeom>
          <a:solidFill>
            <a:schemeClr val="tx2"/>
          </a:solidFill>
          <a:ln w="12700">
            <a:solidFill>
              <a:schemeClr val="tx2"/>
            </a:solidFill>
            <a:prstDash val="solid"/>
          </a:ln>
        </p:spPr>
      </p:sp>
      <p:sp>
        <p:nvSpPr>
          <p:cNvPr id="4" name="hex-164"/>
          <p:cNvSpPr/>
          <p:nvPr/>
        </p:nvSpPr>
        <p:spPr>
          <a:xfrm>
            <a:off x="822960" y="1719072"/>
            <a:ext cx="566928" cy="493227"/>
          </a:xfrm>
          <a:prstGeom prst="hexagon">
            <a:avLst/>
          </a:prstGeom>
          <a:solidFill>
            <a:schemeClr val="accent2"/>
          </a:solidFill>
          <a:ln w="12700">
            <a:solidFill>
              <a:schemeClr val="accent2"/>
            </a:solidFill>
            <a:prstDash val="solid"/>
          </a:ln>
        </p:spPr>
      </p:sp>
      <p:sp>
        <p:nvSpPr>
          <p:cNvPr id="5" name="hex-label-165"/>
          <p:cNvSpPr txBox="1"/>
          <p:nvPr/>
        </p:nvSpPr>
        <p:spPr>
          <a:xfrm>
            <a:off x="822960" y="1719072"/>
            <a:ext cx="566928" cy="493227"/>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6" name="text-166"/>
          <p:cNvSpPr txBox="1"/>
          <p:nvPr/>
        </p:nvSpPr>
        <p:spPr>
          <a:xfrm>
            <a:off x="822960" y="2331720"/>
            <a:ext cx="2148840" cy="411480"/>
          </a:xfrm>
          <a:prstGeom prst="rect">
            <a:avLst/>
          </a:prstGeom>
          <a:noFill/>
          <a:ln/>
        </p:spPr>
        <p:txBody>
          <a:bodyPr wrap="square" lIns="0" tIns="0" rIns="0" bIns="0" rtlCol="0" anchor="t"/>
          <a:lstStyle/>
          <a:p>
            <a:pPr indent="0" marL="0">
              <a:buNone/>
            </a:pPr>
            <a:r>
              <a:rPr lang="en-US" sz="1900" b="1" dirty="0">
                <a:solidFill>
                  <a:schemeClr val="bg1"/>
                </a:solidFill>
              </a:rPr>
              <a:t>Data only</a:t>
            </a:r>
            <a:endParaRPr lang="en-US" sz="1900" dirty="0"/>
          </a:p>
        </p:txBody>
      </p:sp>
      <p:sp>
        <p:nvSpPr>
          <p:cNvPr id="7" name="text-167"/>
          <p:cNvSpPr txBox="1"/>
          <p:nvPr/>
        </p:nvSpPr>
        <p:spPr>
          <a:xfrm>
            <a:off x="822960" y="2743200"/>
            <a:ext cx="2148840" cy="548640"/>
          </a:xfrm>
          <a:prstGeom prst="rect">
            <a:avLst/>
          </a:prstGeom>
          <a:noFill/>
          <a:ln/>
        </p:spPr>
        <p:txBody>
          <a:bodyPr wrap="square" lIns="0" tIns="0" rIns="0" bIns="0" rtlCol="0" anchor="t"/>
          <a:lstStyle/>
          <a:p>
            <a:pPr indent="0" marL="0">
              <a:buNone/>
            </a:pPr>
            <a:r>
              <a:rPr lang="en-US" sz="1400" dirty="0">
                <a:solidFill>
                  <a:schemeClr val="bg2"/>
                </a:solidFill>
              </a:rPr>
              <a:t>fixed schema, ≤ 300 bytes, never code</a:t>
            </a:r>
            <a:endParaRPr lang="en-US" sz="1400" dirty="0"/>
          </a:p>
        </p:txBody>
      </p:sp>
      <p:sp>
        <p:nvSpPr>
          <p:cNvPr id="8" name="card-168"/>
          <p:cNvSpPr/>
          <p:nvPr/>
        </p:nvSpPr>
        <p:spPr>
          <a:xfrm>
            <a:off x="3383280" y="1463040"/>
            <a:ext cx="2606040" cy="1874520"/>
          </a:xfrm>
          <a:prstGeom prst="roundRect">
            <a:avLst>
              <a:gd name="adj" fmla="val 5854"/>
            </a:avLst>
          </a:prstGeom>
          <a:solidFill>
            <a:schemeClr val="tx2"/>
          </a:solidFill>
          <a:ln w="12700">
            <a:solidFill>
              <a:schemeClr val="tx2"/>
            </a:solidFill>
            <a:prstDash val="solid"/>
          </a:ln>
        </p:spPr>
      </p:sp>
      <p:sp>
        <p:nvSpPr>
          <p:cNvPr id="9" name="hex-169"/>
          <p:cNvSpPr/>
          <p:nvPr/>
        </p:nvSpPr>
        <p:spPr>
          <a:xfrm>
            <a:off x="3657600" y="1719072"/>
            <a:ext cx="566928" cy="493227"/>
          </a:xfrm>
          <a:prstGeom prst="hexagon">
            <a:avLst/>
          </a:prstGeom>
          <a:solidFill>
            <a:schemeClr val="accent2"/>
          </a:solidFill>
          <a:ln w="12700">
            <a:solidFill>
              <a:schemeClr val="accent2"/>
            </a:solidFill>
            <a:prstDash val="solid"/>
          </a:ln>
        </p:spPr>
      </p:sp>
      <p:sp>
        <p:nvSpPr>
          <p:cNvPr id="10" name="hex-label-170"/>
          <p:cNvSpPr txBox="1"/>
          <p:nvPr/>
        </p:nvSpPr>
        <p:spPr>
          <a:xfrm>
            <a:off x="3657600" y="1719072"/>
            <a:ext cx="566928" cy="493227"/>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11" name="text-171"/>
          <p:cNvSpPr txBox="1"/>
          <p:nvPr/>
        </p:nvSpPr>
        <p:spPr>
          <a:xfrm>
            <a:off x="3657600" y="2331720"/>
            <a:ext cx="2148840" cy="411480"/>
          </a:xfrm>
          <a:prstGeom prst="rect">
            <a:avLst/>
          </a:prstGeom>
          <a:noFill/>
          <a:ln/>
        </p:spPr>
        <p:txBody>
          <a:bodyPr wrap="square" lIns="0" tIns="0" rIns="0" bIns="0" rtlCol="0" anchor="t"/>
          <a:lstStyle/>
          <a:p>
            <a:pPr indent="0" marL="0">
              <a:buNone/>
            </a:pPr>
            <a:r>
              <a:rPr lang="en-US" sz="1900" b="1" dirty="0">
                <a:solidFill>
                  <a:schemeClr val="bg1"/>
                </a:solidFill>
              </a:rPr>
              <a:t>Block-only</a:t>
            </a:r>
            <a:endParaRPr lang="en-US" sz="1900" dirty="0"/>
          </a:p>
        </p:txBody>
      </p:sp>
      <p:sp>
        <p:nvSpPr>
          <p:cNvPr id="12" name="text-172"/>
          <p:cNvSpPr txBox="1"/>
          <p:nvPr/>
        </p:nvSpPr>
        <p:spPr>
          <a:xfrm>
            <a:off x="3657600" y="2743200"/>
            <a:ext cx="2148840" cy="548640"/>
          </a:xfrm>
          <a:prstGeom prst="rect">
            <a:avLst/>
          </a:prstGeom>
          <a:noFill/>
          <a:ln/>
        </p:spPr>
        <p:txBody>
          <a:bodyPr wrap="square" lIns="0" tIns="0" rIns="0" bIns="0" rtlCol="0" anchor="t"/>
          <a:lstStyle/>
          <a:p>
            <a:pPr indent="0" marL="0">
              <a:buNone/>
            </a:pPr>
            <a:r>
              <a:rPr lang="en-US" sz="1400" dirty="0">
                <a:solidFill>
                  <a:schemeClr val="bg2"/>
                </a:solidFill>
              </a:rPr>
              <a:t>can never unblock or reconfigure anything</a:t>
            </a:r>
            <a:endParaRPr lang="en-US" sz="1400" dirty="0"/>
          </a:p>
        </p:txBody>
      </p:sp>
      <p:sp>
        <p:nvSpPr>
          <p:cNvPr id="13" name="card-173"/>
          <p:cNvSpPr/>
          <p:nvPr/>
        </p:nvSpPr>
        <p:spPr>
          <a:xfrm>
            <a:off x="6217920" y="1463040"/>
            <a:ext cx="2606040" cy="1874520"/>
          </a:xfrm>
          <a:prstGeom prst="roundRect">
            <a:avLst>
              <a:gd name="adj" fmla="val 5854"/>
            </a:avLst>
          </a:prstGeom>
          <a:solidFill>
            <a:schemeClr val="tx2"/>
          </a:solidFill>
          <a:ln w="12700">
            <a:solidFill>
              <a:schemeClr val="tx2"/>
            </a:solidFill>
            <a:prstDash val="solid"/>
          </a:ln>
        </p:spPr>
      </p:sp>
      <p:sp>
        <p:nvSpPr>
          <p:cNvPr id="14" name="hex-174"/>
          <p:cNvSpPr/>
          <p:nvPr/>
        </p:nvSpPr>
        <p:spPr>
          <a:xfrm>
            <a:off x="6492240" y="1719072"/>
            <a:ext cx="566928" cy="493227"/>
          </a:xfrm>
          <a:prstGeom prst="hexagon">
            <a:avLst/>
          </a:prstGeom>
          <a:solidFill>
            <a:schemeClr val="accent2"/>
          </a:solidFill>
          <a:ln w="12700">
            <a:solidFill>
              <a:schemeClr val="accent2"/>
            </a:solidFill>
            <a:prstDash val="solid"/>
          </a:ln>
        </p:spPr>
      </p:sp>
      <p:sp>
        <p:nvSpPr>
          <p:cNvPr id="15" name="hex-label-175"/>
          <p:cNvSpPr txBox="1"/>
          <p:nvPr/>
        </p:nvSpPr>
        <p:spPr>
          <a:xfrm>
            <a:off x="6492240" y="1719072"/>
            <a:ext cx="566928" cy="493227"/>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16" name="text-176"/>
          <p:cNvSpPr txBox="1"/>
          <p:nvPr/>
        </p:nvSpPr>
        <p:spPr>
          <a:xfrm>
            <a:off x="6492240" y="2331720"/>
            <a:ext cx="2148840" cy="411480"/>
          </a:xfrm>
          <a:prstGeom prst="rect">
            <a:avLst/>
          </a:prstGeom>
          <a:noFill/>
          <a:ln/>
        </p:spPr>
        <p:txBody>
          <a:bodyPr wrap="square" lIns="0" tIns="0" rIns="0" bIns="0" rtlCol="0" anchor="t"/>
          <a:lstStyle/>
          <a:p>
            <a:pPr indent="0" marL="0">
              <a:buNone/>
            </a:pPr>
            <a:r>
              <a:rPr lang="en-US" sz="1900" b="1" dirty="0">
                <a:solidFill>
                  <a:schemeClr val="bg1"/>
                </a:solidFill>
              </a:rPr>
              <a:t>Signed</a:t>
            </a:r>
            <a:endParaRPr lang="en-US" sz="1900" dirty="0"/>
          </a:p>
        </p:txBody>
      </p:sp>
      <p:sp>
        <p:nvSpPr>
          <p:cNvPr id="17" name="text-177"/>
          <p:cNvSpPr txBox="1"/>
          <p:nvPr/>
        </p:nvSpPr>
        <p:spPr>
          <a:xfrm>
            <a:off x="6492240" y="2743200"/>
            <a:ext cx="2148840" cy="548640"/>
          </a:xfrm>
          <a:prstGeom prst="rect">
            <a:avLst/>
          </a:prstGeom>
          <a:noFill/>
          <a:ln/>
        </p:spPr>
        <p:txBody>
          <a:bodyPr wrap="square" lIns="0" tIns="0" rIns="0" bIns="0" rtlCol="0" anchor="t"/>
          <a:lstStyle/>
          <a:p>
            <a:pPr indent="0" marL="0">
              <a:buNone/>
            </a:pPr>
            <a:r>
              <a:rPr lang="en-US" sz="1400" dirty="0">
                <a:solidFill>
                  <a:schemeClr val="bg2"/>
                </a:solidFill>
              </a:rPr>
              <a:t>HMAC-SHA256: forgeries are rejected</a:t>
            </a:r>
            <a:endParaRPr lang="en-US" sz="1400" dirty="0"/>
          </a:p>
        </p:txBody>
      </p:sp>
      <p:sp>
        <p:nvSpPr>
          <p:cNvPr id="18" name="card-178"/>
          <p:cNvSpPr/>
          <p:nvPr/>
        </p:nvSpPr>
        <p:spPr>
          <a:xfrm>
            <a:off x="9052560" y="1463040"/>
            <a:ext cx="2606040" cy="1874520"/>
          </a:xfrm>
          <a:prstGeom prst="roundRect">
            <a:avLst>
              <a:gd name="adj" fmla="val 5854"/>
            </a:avLst>
          </a:prstGeom>
          <a:solidFill>
            <a:schemeClr val="tx2"/>
          </a:solidFill>
          <a:ln w="12700">
            <a:solidFill>
              <a:schemeClr val="tx2"/>
            </a:solidFill>
            <a:prstDash val="solid"/>
          </a:ln>
        </p:spPr>
      </p:sp>
      <p:sp>
        <p:nvSpPr>
          <p:cNvPr id="19" name="hex-179"/>
          <p:cNvSpPr/>
          <p:nvPr/>
        </p:nvSpPr>
        <p:spPr>
          <a:xfrm>
            <a:off x="9326880" y="1719072"/>
            <a:ext cx="566928" cy="493227"/>
          </a:xfrm>
          <a:prstGeom prst="hexagon">
            <a:avLst/>
          </a:prstGeom>
          <a:solidFill>
            <a:schemeClr val="accent2"/>
          </a:solidFill>
          <a:ln w="12700">
            <a:solidFill>
              <a:schemeClr val="accent2"/>
            </a:solidFill>
            <a:prstDash val="solid"/>
          </a:ln>
        </p:spPr>
      </p:sp>
      <p:sp>
        <p:nvSpPr>
          <p:cNvPr id="20" name="hex-label-180"/>
          <p:cNvSpPr txBox="1"/>
          <p:nvPr/>
        </p:nvSpPr>
        <p:spPr>
          <a:xfrm>
            <a:off x="9326880" y="1719072"/>
            <a:ext cx="566928" cy="493227"/>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21" name="text-181"/>
          <p:cNvSpPr txBox="1"/>
          <p:nvPr/>
        </p:nvSpPr>
        <p:spPr>
          <a:xfrm>
            <a:off x="9326880" y="2331720"/>
            <a:ext cx="2148840" cy="411480"/>
          </a:xfrm>
          <a:prstGeom prst="rect">
            <a:avLst/>
          </a:prstGeom>
          <a:noFill/>
          <a:ln/>
        </p:spPr>
        <p:txBody>
          <a:bodyPr wrap="square" lIns="0" tIns="0" rIns="0" bIns="0" rtlCol="0" anchor="t"/>
          <a:lstStyle/>
          <a:p>
            <a:pPr indent="0" marL="0">
              <a:buNone/>
            </a:pPr>
            <a:r>
              <a:rPr lang="en-US" sz="1900" b="1" dirty="0">
                <a:solidFill>
                  <a:schemeClr val="bg1"/>
                </a:solidFill>
              </a:rPr>
              <a:t>Replay-proof</a:t>
            </a:r>
            <a:endParaRPr lang="en-US" sz="1900" dirty="0"/>
          </a:p>
        </p:txBody>
      </p:sp>
      <p:sp>
        <p:nvSpPr>
          <p:cNvPr id="22" name="text-182"/>
          <p:cNvSpPr txBox="1"/>
          <p:nvPr/>
        </p:nvSpPr>
        <p:spPr>
          <a:xfrm>
            <a:off x="9326880" y="2743200"/>
            <a:ext cx="2148840" cy="548640"/>
          </a:xfrm>
          <a:prstGeom prst="rect">
            <a:avLst/>
          </a:prstGeom>
          <a:noFill/>
          <a:ln/>
        </p:spPr>
        <p:txBody>
          <a:bodyPr wrap="square" lIns="0" tIns="0" rIns="0" bIns="0" rtlCol="0" anchor="t"/>
          <a:lstStyle/>
          <a:p>
            <a:pPr indent="0" marL="0">
              <a:buNone/>
            </a:pPr>
            <a:r>
              <a:rPr lang="en-US" sz="1400" dirty="0">
                <a:solidFill>
                  <a:schemeClr val="bg2"/>
                </a:solidFill>
              </a:rPr>
              <a:t>sequence numbers only go up</a:t>
            </a:r>
            <a:endParaRPr lang="en-US" sz="1400" dirty="0"/>
          </a:p>
        </p:txBody>
      </p:sp>
      <p:sp>
        <p:nvSpPr>
          <p:cNvPr id="23" name="card-183"/>
          <p:cNvSpPr/>
          <p:nvPr/>
        </p:nvSpPr>
        <p:spPr>
          <a:xfrm>
            <a:off x="548640" y="3566160"/>
            <a:ext cx="2606040" cy="1874520"/>
          </a:xfrm>
          <a:prstGeom prst="roundRect">
            <a:avLst>
              <a:gd name="adj" fmla="val 5854"/>
            </a:avLst>
          </a:prstGeom>
          <a:solidFill>
            <a:schemeClr val="tx2"/>
          </a:solidFill>
          <a:ln w="12700">
            <a:solidFill>
              <a:schemeClr val="tx2"/>
            </a:solidFill>
            <a:prstDash val="solid"/>
          </a:ln>
        </p:spPr>
      </p:sp>
      <p:sp>
        <p:nvSpPr>
          <p:cNvPr id="24" name="hex-184"/>
          <p:cNvSpPr/>
          <p:nvPr/>
        </p:nvSpPr>
        <p:spPr>
          <a:xfrm>
            <a:off x="822960" y="3822192"/>
            <a:ext cx="566928" cy="493227"/>
          </a:xfrm>
          <a:prstGeom prst="hexagon">
            <a:avLst/>
          </a:prstGeom>
          <a:solidFill>
            <a:schemeClr val="accent2"/>
          </a:solidFill>
          <a:ln w="12700">
            <a:solidFill>
              <a:schemeClr val="accent2"/>
            </a:solidFill>
            <a:prstDash val="solid"/>
          </a:ln>
        </p:spPr>
      </p:sp>
      <p:sp>
        <p:nvSpPr>
          <p:cNvPr id="25" name="hex-label-185"/>
          <p:cNvSpPr txBox="1"/>
          <p:nvPr/>
        </p:nvSpPr>
        <p:spPr>
          <a:xfrm>
            <a:off x="822960" y="3822192"/>
            <a:ext cx="566928" cy="493227"/>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26" name="text-186"/>
          <p:cNvSpPr txBox="1"/>
          <p:nvPr/>
        </p:nvSpPr>
        <p:spPr>
          <a:xfrm>
            <a:off x="822960" y="4434840"/>
            <a:ext cx="2148840" cy="411480"/>
          </a:xfrm>
          <a:prstGeom prst="rect">
            <a:avLst/>
          </a:prstGeom>
          <a:noFill/>
          <a:ln/>
        </p:spPr>
        <p:txBody>
          <a:bodyPr wrap="square" lIns="0" tIns="0" rIns="0" bIns="0" rtlCol="0" anchor="t"/>
          <a:lstStyle/>
          <a:p>
            <a:pPr indent="0" marL="0">
              <a:buNone/>
            </a:pPr>
            <a:r>
              <a:rPr lang="en-US" sz="1900" b="1" dirty="0">
                <a:solidFill>
                  <a:schemeClr val="bg1"/>
                </a:solidFill>
              </a:rPr>
              <a:t>Second opinion</a:t>
            </a:r>
            <a:endParaRPr lang="en-US" sz="1900" dirty="0"/>
          </a:p>
        </p:txBody>
      </p:sp>
      <p:sp>
        <p:nvSpPr>
          <p:cNvPr id="27" name="text-187"/>
          <p:cNvSpPr txBox="1"/>
          <p:nvPr/>
        </p:nvSpPr>
        <p:spPr>
          <a:xfrm>
            <a:off x="822960" y="4846320"/>
            <a:ext cx="2148840" cy="548640"/>
          </a:xfrm>
          <a:prstGeom prst="rect">
            <a:avLst/>
          </a:prstGeom>
          <a:noFill/>
          <a:ln/>
        </p:spPr>
        <p:txBody>
          <a:bodyPr wrap="square" lIns="0" tIns="0" rIns="0" bIns="0" rtlCol="0" anchor="t"/>
          <a:lstStyle/>
          <a:p>
            <a:pPr indent="0" marL="0">
              <a:buNone/>
            </a:pPr>
            <a:r>
              <a:rPr lang="en-US" sz="1400" dirty="0">
                <a:solidFill>
                  <a:schemeClr val="bg2"/>
                </a:solidFill>
              </a:rPr>
              <a:t>two independent reports before adopting</a:t>
            </a:r>
            <a:endParaRPr lang="en-US" sz="1400" dirty="0"/>
          </a:p>
        </p:txBody>
      </p:sp>
      <p:sp>
        <p:nvSpPr>
          <p:cNvPr id="28" name="card-188"/>
          <p:cNvSpPr/>
          <p:nvPr/>
        </p:nvSpPr>
        <p:spPr>
          <a:xfrm>
            <a:off x="3383280" y="3566160"/>
            <a:ext cx="2606040" cy="1874520"/>
          </a:xfrm>
          <a:prstGeom prst="roundRect">
            <a:avLst>
              <a:gd name="adj" fmla="val 5854"/>
            </a:avLst>
          </a:prstGeom>
          <a:solidFill>
            <a:schemeClr val="tx2"/>
          </a:solidFill>
          <a:ln w="12700">
            <a:solidFill>
              <a:schemeClr val="tx2"/>
            </a:solidFill>
            <a:prstDash val="solid"/>
          </a:ln>
        </p:spPr>
      </p:sp>
      <p:sp>
        <p:nvSpPr>
          <p:cNvPr id="29" name="hex-189"/>
          <p:cNvSpPr/>
          <p:nvPr/>
        </p:nvSpPr>
        <p:spPr>
          <a:xfrm>
            <a:off x="3657600" y="3822192"/>
            <a:ext cx="566928" cy="493227"/>
          </a:xfrm>
          <a:prstGeom prst="hexagon">
            <a:avLst/>
          </a:prstGeom>
          <a:solidFill>
            <a:schemeClr val="accent2"/>
          </a:solidFill>
          <a:ln w="12700">
            <a:solidFill>
              <a:schemeClr val="accent2"/>
            </a:solidFill>
            <a:prstDash val="solid"/>
          </a:ln>
        </p:spPr>
      </p:sp>
      <p:sp>
        <p:nvSpPr>
          <p:cNvPr id="30" name="hex-label-190"/>
          <p:cNvSpPr txBox="1"/>
          <p:nvPr/>
        </p:nvSpPr>
        <p:spPr>
          <a:xfrm>
            <a:off x="3657600" y="3822192"/>
            <a:ext cx="566928" cy="493227"/>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31" name="text-191"/>
          <p:cNvSpPr txBox="1"/>
          <p:nvPr/>
        </p:nvSpPr>
        <p:spPr>
          <a:xfrm>
            <a:off x="3657600" y="4434840"/>
            <a:ext cx="2148840" cy="411480"/>
          </a:xfrm>
          <a:prstGeom prst="rect">
            <a:avLst/>
          </a:prstGeom>
          <a:noFill/>
          <a:ln/>
        </p:spPr>
        <p:txBody>
          <a:bodyPr wrap="square" lIns="0" tIns="0" rIns="0" bIns="0" rtlCol="0" anchor="t"/>
          <a:lstStyle/>
          <a:p>
            <a:pPr indent="0" marL="0">
              <a:buNone/>
            </a:pPr>
            <a:r>
              <a:rPr lang="en-US" sz="1900" b="1" dirty="0">
                <a:solidFill>
                  <a:schemeClr val="bg1"/>
                </a:solidFill>
              </a:rPr>
              <a:t>Anti-spam</a:t>
            </a:r>
            <a:endParaRPr lang="en-US" sz="1900" dirty="0"/>
          </a:p>
        </p:txBody>
      </p:sp>
      <p:sp>
        <p:nvSpPr>
          <p:cNvPr id="32" name="text-192"/>
          <p:cNvSpPr txBox="1"/>
          <p:nvPr/>
        </p:nvSpPr>
        <p:spPr>
          <a:xfrm>
            <a:off x="3657600" y="4846320"/>
            <a:ext cx="2148840" cy="548640"/>
          </a:xfrm>
          <a:prstGeom prst="rect">
            <a:avLst/>
          </a:prstGeom>
          <a:noFill/>
          <a:ln/>
        </p:spPr>
        <p:txBody>
          <a:bodyPr wrap="square" lIns="0" tIns="0" rIns="0" bIns="0" rtlCol="0" anchor="t"/>
          <a:lstStyle/>
          <a:p>
            <a:pPr indent="0" marL="0">
              <a:buNone/>
            </a:pPr>
            <a:r>
              <a:rPr lang="en-US" sz="1400" dirty="0">
                <a:solidFill>
                  <a:schemeClr val="bg2"/>
                </a:solidFill>
              </a:rPr>
              <a:t>a device flooding vaccines loses trust</a:t>
            </a:r>
            <a:endParaRPr lang="en-US" sz="1400" dirty="0"/>
          </a:p>
        </p:txBody>
      </p:sp>
      <p:sp>
        <p:nvSpPr>
          <p:cNvPr id="33" name="card-193"/>
          <p:cNvSpPr/>
          <p:nvPr/>
        </p:nvSpPr>
        <p:spPr>
          <a:xfrm>
            <a:off x="6217920" y="3566160"/>
            <a:ext cx="2606040" cy="1874520"/>
          </a:xfrm>
          <a:prstGeom prst="roundRect">
            <a:avLst>
              <a:gd name="adj" fmla="val 5854"/>
            </a:avLst>
          </a:prstGeom>
          <a:solidFill>
            <a:schemeClr val="tx2"/>
          </a:solidFill>
          <a:ln w="12700">
            <a:solidFill>
              <a:schemeClr val="tx2"/>
            </a:solidFill>
            <a:prstDash val="solid"/>
          </a:ln>
        </p:spPr>
      </p:sp>
      <p:sp>
        <p:nvSpPr>
          <p:cNvPr id="34" name="hex-194"/>
          <p:cNvSpPr/>
          <p:nvPr/>
        </p:nvSpPr>
        <p:spPr>
          <a:xfrm>
            <a:off x="6492240" y="3822192"/>
            <a:ext cx="566928" cy="493227"/>
          </a:xfrm>
          <a:prstGeom prst="hexagon">
            <a:avLst/>
          </a:prstGeom>
          <a:solidFill>
            <a:schemeClr val="accent2"/>
          </a:solidFill>
          <a:ln w="12700">
            <a:solidFill>
              <a:schemeClr val="accent2"/>
            </a:solidFill>
            <a:prstDash val="solid"/>
          </a:ln>
        </p:spPr>
      </p:sp>
      <p:sp>
        <p:nvSpPr>
          <p:cNvPr id="35" name="hex-label-195"/>
          <p:cNvSpPr txBox="1"/>
          <p:nvPr/>
        </p:nvSpPr>
        <p:spPr>
          <a:xfrm>
            <a:off x="6492240" y="3822192"/>
            <a:ext cx="566928" cy="493227"/>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36" name="text-196"/>
          <p:cNvSpPr txBox="1"/>
          <p:nvPr/>
        </p:nvSpPr>
        <p:spPr>
          <a:xfrm>
            <a:off x="6492240" y="4434840"/>
            <a:ext cx="2148840" cy="411480"/>
          </a:xfrm>
          <a:prstGeom prst="rect">
            <a:avLst/>
          </a:prstGeom>
          <a:noFill/>
          <a:ln/>
        </p:spPr>
        <p:txBody>
          <a:bodyPr wrap="square" lIns="0" tIns="0" rIns="0" bIns="0" rtlCol="0" anchor="t"/>
          <a:lstStyle/>
          <a:p>
            <a:pPr indent="0" marL="0">
              <a:buNone/>
            </a:pPr>
            <a:r>
              <a:rPr lang="en-US" sz="1900" b="1" dirty="0">
                <a:solidFill>
                  <a:schemeClr val="bg1"/>
                </a:solidFill>
              </a:rPr>
              <a:t>Expires</a:t>
            </a:r>
            <a:endParaRPr lang="en-US" sz="1900" dirty="0"/>
          </a:p>
        </p:txBody>
      </p:sp>
      <p:sp>
        <p:nvSpPr>
          <p:cNvPr id="37" name="text-197"/>
          <p:cNvSpPr txBox="1"/>
          <p:nvPr/>
        </p:nvSpPr>
        <p:spPr>
          <a:xfrm>
            <a:off x="6492240" y="4846320"/>
            <a:ext cx="2148840" cy="548640"/>
          </a:xfrm>
          <a:prstGeom prst="rect">
            <a:avLst/>
          </a:prstGeom>
          <a:noFill/>
          <a:ln/>
        </p:spPr>
        <p:txBody>
          <a:bodyPr wrap="square" lIns="0" tIns="0" rIns="0" bIns="0" rtlCol="0" anchor="t"/>
          <a:lstStyle/>
          <a:p>
            <a:pPr indent="0" marL="0">
              <a:buNone/>
            </a:pPr>
            <a:r>
              <a:rPr lang="en-US" sz="1400" dirty="0">
                <a:solidFill>
                  <a:schemeClr val="bg2"/>
                </a:solidFill>
              </a:rPr>
              <a:t>blocks heal by themselves</a:t>
            </a:r>
            <a:endParaRPr lang="en-US" sz="1400" dirty="0"/>
          </a:p>
        </p:txBody>
      </p:sp>
      <p:sp>
        <p:nvSpPr>
          <p:cNvPr id="38" name="card-198"/>
          <p:cNvSpPr/>
          <p:nvPr/>
        </p:nvSpPr>
        <p:spPr>
          <a:xfrm>
            <a:off x="9052560" y="3566160"/>
            <a:ext cx="2606040" cy="1874520"/>
          </a:xfrm>
          <a:prstGeom prst="roundRect">
            <a:avLst>
              <a:gd name="adj" fmla="val 5854"/>
            </a:avLst>
          </a:prstGeom>
          <a:solidFill>
            <a:schemeClr val="tx2"/>
          </a:solidFill>
          <a:ln w="12700">
            <a:solidFill>
              <a:schemeClr val="tx2"/>
            </a:solidFill>
            <a:prstDash val="solid"/>
          </a:ln>
        </p:spPr>
      </p:sp>
      <p:sp>
        <p:nvSpPr>
          <p:cNvPr id="39" name="hex-199"/>
          <p:cNvSpPr/>
          <p:nvPr/>
        </p:nvSpPr>
        <p:spPr>
          <a:xfrm>
            <a:off x="9326880" y="3822192"/>
            <a:ext cx="566928" cy="493227"/>
          </a:xfrm>
          <a:prstGeom prst="hexagon">
            <a:avLst/>
          </a:prstGeom>
          <a:solidFill>
            <a:schemeClr val="accent2"/>
          </a:solidFill>
          <a:ln w="12700">
            <a:solidFill>
              <a:schemeClr val="accent2"/>
            </a:solidFill>
            <a:prstDash val="solid"/>
          </a:ln>
        </p:spPr>
      </p:sp>
      <p:sp>
        <p:nvSpPr>
          <p:cNvPr id="40" name="hex-label-200"/>
          <p:cNvSpPr txBox="1"/>
          <p:nvPr/>
        </p:nvSpPr>
        <p:spPr>
          <a:xfrm>
            <a:off x="9326880" y="3822192"/>
            <a:ext cx="566928" cy="493227"/>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41" name="text-201"/>
          <p:cNvSpPr txBox="1"/>
          <p:nvPr/>
        </p:nvSpPr>
        <p:spPr>
          <a:xfrm>
            <a:off x="9326880" y="4434840"/>
            <a:ext cx="2148840" cy="411480"/>
          </a:xfrm>
          <a:prstGeom prst="rect">
            <a:avLst/>
          </a:prstGeom>
          <a:noFill/>
          <a:ln/>
        </p:spPr>
        <p:txBody>
          <a:bodyPr wrap="square" lIns="0" tIns="0" rIns="0" bIns="0" rtlCol="0" anchor="t"/>
          <a:lstStyle/>
          <a:p>
            <a:pPr indent="0" marL="0">
              <a:buNone/>
            </a:pPr>
            <a:r>
              <a:rPr lang="en-US" sz="1900" b="1" dirty="0">
                <a:solidFill>
                  <a:schemeClr val="bg1"/>
                </a:solidFill>
              </a:rPr>
              <a:t>Protected</a:t>
            </a:r>
            <a:endParaRPr lang="en-US" sz="1900" dirty="0"/>
          </a:p>
        </p:txBody>
      </p:sp>
      <p:sp>
        <p:nvSpPr>
          <p:cNvPr id="42" name="text-202"/>
          <p:cNvSpPr txBox="1"/>
          <p:nvPr/>
        </p:nvSpPr>
        <p:spPr>
          <a:xfrm>
            <a:off x="9326880" y="4846320"/>
            <a:ext cx="2148840" cy="548640"/>
          </a:xfrm>
          <a:prstGeom prst="rect">
            <a:avLst/>
          </a:prstGeom>
          <a:noFill/>
          <a:ln/>
        </p:spPr>
        <p:txBody>
          <a:bodyPr wrap="square" lIns="0" tIns="0" rIns="0" bIns="0" rtlCol="0" anchor="t"/>
          <a:lstStyle/>
          <a:p>
            <a:pPr indent="0" marL="0">
              <a:buNone/>
            </a:pPr>
            <a:r>
              <a:rPr lang="en-US" sz="1400" dirty="0">
                <a:solidFill>
                  <a:schemeClr val="bg2"/>
                </a:solidFill>
              </a:rPr>
              <a:t>can't target the hub or the receiver</a:t>
            </a:r>
            <a:endParaRPr lang="en-US" sz="1400" dirty="0"/>
          </a:p>
        </p:txBody>
      </p:sp>
      <p:sp>
        <p:nvSpPr>
          <p:cNvPr id="43" name="text-203"/>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600" b="1" dirty="0">
                <a:solidFill>
                  <a:schemeClr val="accent1"/>
                </a:solidFill>
              </a:rPr>
              <a:t>Every one of these is attacked live in the demo (“Attack the cure”) and rejected with a visible reason.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99B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Live demo: a judge presses the attack button</a:t>
            </a:r>
            <a:endParaRPr lang="en-US" sz="3600" dirty="0"/>
          </a:p>
        </p:txBody>
      </p:sp>
      <p:sp>
        <p:nvSpPr>
          <p:cNvPr id="3" name="card-204"/>
          <p:cNvSpPr/>
          <p:nvPr/>
        </p:nvSpPr>
        <p:spPr>
          <a:xfrm>
            <a:off x="548640" y="1463040"/>
            <a:ext cx="2606040" cy="1965960"/>
          </a:xfrm>
          <a:prstGeom prst="roundRect">
            <a:avLst>
              <a:gd name="adj" fmla="val 5581"/>
            </a:avLst>
          </a:prstGeom>
          <a:solidFill>
            <a:schemeClr val="tx2"/>
          </a:solidFill>
          <a:ln w="12700">
            <a:solidFill>
              <a:schemeClr val="tx2"/>
            </a:solidFill>
            <a:prstDash val="solid"/>
          </a:ln>
        </p:spPr>
      </p:sp>
      <p:sp>
        <p:nvSpPr>
          <p:cNvPr id="4" name="hex-205"/>
          <p:cNvSpPr/>
          <p:nvPr/>
        </p:nvSpPr>
        <p:spPr>
          <a:xfrm>
            <a:off x="822960" y="1737360"/>
            <a:ext cx="640080" cy="556870"/>
          </a:xfrm>
          <a:prstGeom prst="hexagon">
            <a:avLst/>
          </a:prstGeom>
          <a:solidFill>
            <a:schemeClr val="accent2"/>
          </a:solidFill>
          <a:ln w="12700">
            <a:solidFill>
              <a:schemeClr val="accent2"/>
            </a:solidFill>
            <a:prstDash val="solid"/>
          </a:ln>
        </p:spPr>
      </p:sp>
      <p:sp>
        <p:nvSpPr>
          <p:cNvPr id="5" name="hex-label-206"/>
          <p:cNvSpPr txBox="1"/>
          <p:nvPr/>
        </p:nvSpPr>
        <p:spPr>
          <a:xfrm>
            <a:off x="822960" y="1737360"/>
            <a:ext cx="640080" cy="55687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6" name="text-207"/>
          <p:cNvSpPr txBox="1"/>
          <p:nvPr/>
        </p:nvSpPr>
        <p:spPr>
          <a:xfrm>
            <a:off x="822960" y="2377440"/>
            <a:ext cx="2148840" cy="411480"/>
          </a:xfrm>
          <a:prstGeom prst="rect">
            <a:avLst/>
          </a:prstGeom>
          <a:noFill/>
          <a:ln/>
        </p:spPr>
        <p:txBody>
          <a:bodyPr wrap="square" lIns="0" tIns="0" rIns="0" bIns="0" rtlCol="0" anchor="t"/>
          <a:lstStyle/>
          <a:p>
            <a:pPr indent="0" marL="0">
              <a:buNone/>
            </a:pPr>
            <a:r>
              <a:rPr lang="en-US" sz="1800" b="1" dirty="0">
                <a:solidFill>
                  <a:schemeClr val="bg1"/>
                </a:solidFill>
              </a:rPr>
              <a:t>Normal</a:t>
            </a:r>
            <a:endParaRPr lang="en-US" sz="1800" dirty="0"/>
          </a:p>
        </p:txBody>
      </p:sp>
      <p:sp>
        <p:nvSpPr>
          <p:cNvPr id="7" name="text-208"/>
          <p:cNvSpPr txBox="1"/>
          <p:nvPr/>
        </p:nvSpPr>
        <p:spPr>
          <a:xfrm>
            <a:off x="822960" y="2788920"/>
            <a:ext cx="2148840" cy="548640"/>
          </a:xfrm>
          <a:prstGeom prst="rect">
            <a:avLst/>
          </a:prstGeom>
          <a:noFill/>
          <a:ln/>
        </p:spPr>
        <p:txBody>
          <a:bodyPr wrap="square" lIns="0" tIns="0" rIns="0" bIns="0" rtlCol="0" anchor="t"/>
          <a:lstStyle/>
          <a:p>
            <a:pPr indent="0" marL="0">
              <a:buNone/>
            </a:pPr>
            <a:r>
              <a:rPr lang="en-US" sz="1400" dirty="0">
                <a:solidFill>
                  <a:schemeClr val="bg2"/>
                </a:solidFill>
              </a:rPr>
              <a:t>every device has learned its own traffic</a:t>
            </a:r>
            <a:endParaRPr lang="en-US" sz="1400" dirty="0"/>
          </a:p>
        </p:txBody>
      </p:sp>
      <p:sp>
        <p:nvSpPr>
          <p:cNvPr id="8" name="card-209"/>
          <p:cNvSpPr/>
          <p:nvPr/>
        </p:nvSpPr>
        <p:spPr>
          <a:xfrm>
            <a:off x="3383280" y="1463040"/>
            <a:ext cx="2606040" cy="1965960"/>
          </a:xfrm>
          <a:prstGeom prst="roundRect">
            <a:avLst>
              <a:gd name="adj" fmla="val 5581"/>
            </a:avLst>
          </a:prstGeom>
          <a:solidFill>
            <a:schemeClr val="tx2"/>
          </a:solidFill>
          <a:ln w="12700">
            <a:solidFill>
              <a:schemeClr val="tx2"/>
            </a:solidFill>
            <a:prstDash val="solid"/>
          </a:ln>
        </p:spPr>
      </p:sp>
      <p:sp>
        <p:nvSpPr>
          <p:cNvPr id="9" name="hex-210"/>
          <p:cNvSpPr/>
          <p:nvPr/>
        </p:nvSpPr>
        <p:spPr>
          <a:xfrm>
            <a:off x="3657600" y="1737360"/>
            <a:ext cx="640080" cy="556870"/>
          </a:xfrm>
          <a:prstGeom prst="hexagon">
            <a:avLst/>
          </a:prstGeom>
          <a:solidFill>
            <a:schemeClr val="accent3"/>
          </a:solidFill>
          <a:ln w="12700">
            <a:solidFill>
              <a:schemeClr val="accent3"/>
            </a:solidFill>
            <a:prstDash val="solid"/>
          </a:ln>
        </p:spPr>
      </p:sp>
      <p:sp>
        <p:nvSpPr>
          <p:cNvPr id="10" name="hex-label-211"/>
          <p:cNvSpPr txBox="1"/>
          <p:nvPr/>
        </p:nvSpPr>
        <p:spPr>
          <a:xfrm>
            <a:off x="3657600" y="1737360"/>
            <a:ext cx="640080" cy="55687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212"/>
          <p:cNvSpPr txBox="1"/>
          <p:nvPr/>
        </p:nvSpPr>
        <p:spPr>
          <a:xfrm>
            <a:off x="3657600" y="2377440"/>
            <a:ext cx="2148840" cy="411480"/>
          </a:xfrm>
          <a:prstGeom prst="rect">
            <a:avLst/>
          </a:prstGeom>
          <a:noFill/>
          <a:ln/>
        </p:spPr>
        <p:txBody>
          <a:bodyPr wrap="square" lIns="0" tIns="0" rIns="0" bIns="0" rtlCol="0" anchor="t"/>
          <a:lstStyle/>
          <a:p>
            <a:pPr indent="0" marL="0">
              <a:buNone/>
            </a:pPr>
            <a:r>
              <a:rPr lang="en-US" sz="1800" b="1" dirty="0">
                <a:solidFill>
                  <a:schemeClr val="bg1"/>
                </a:solidFill>
              </a:rPr>
              <a:t>Attack ESP32</a:t>
            </a:r>
            <a:endParaRPr lang="en-US" sz="1800" dirty="0"/>
          </a:p>
        </p:txBody>
      </p:sp>
      <p:sp>
        <p:nvSpPr>
          <p:cNvPr id="12" name="text-213"/>
          <p:cNvSpPr txBox="1"/>
          <p:nvPr/>
        </p:nvSpPr>
        <p:spPr>
          <a:xfrm>
            <a:off x="3657600" y="2788920"/>
            <a:ext cx="2148840" cy="548640"/>
          </a:xfrm>
          <a:prstGeom prst="rect">
            <a:avLst/>
          </a:prstGeom>
          <a:noFill/>
          <a:ln/>
        </p:spPr>
        <p:txBody>
          <a:bodyPr wrap="square" lIns="0" tIns="0" rIns="0" bIns="0" rtlCol="0" anchor="t"/>
          <a:lstStyle/>
          <a:p>
            <a:pPr indent="0" marL="0">
              <a:buNone/>
            </a:pPr>
            <a:r>
              <a:rPr lang="en-US" sz="1400" dirty="0">
                <a:solidFill>
                  <a:schemeClr val="bg2"/>
                </a:solidFill>
              </a:rPr>
              <a:t>it quarantines itself and sends a vaccine</a:t>
            </a:r>
            <a:endParaRPr lang="en-US" sz="1400" dirty="0"/>
          </a:p>
        </p:txBody>
      </p:sp>
      <p:sp>
        <p:nvSpPr>
          <p:cNvPr id="13" name="card-214"/>
          <p:cNvSpPr/>
          <p:nvPr/>
        </p:nvSpPr>
        <p:spPr>
          <a:xfrm>
            <a:off x="6217920" y="1463040"/>
            <a:ext cx="2606040" cy="1965960"/>
          </a:xfrm>
          <a:prstGeom prst="roundRect">
            <a:avLst>
              <a:gd name="adj" fmla="val 5581"/>
            </a:avLst>
          </a:prstGeom>
          <a:solidFill>
            <a:schemeClr val="tx2"/>
          </a:solidFill>
          <a:ln w="12700">
            <a:solidFill>
              <a:schemeClr val="tx2"/>
            </a:solidFill>
            <a:prstDash val="solid"/>
          </a:ln>
        </p:spPr>
      </p:sp>
      <p:sp>
        <p:nvSpPr>
          <p:cNvPr id="14" name="hex-215"/>
          <p:cNvSpPr/>
          <p:nvPr/>
        </p:nvSpPr>
        <p:spPr>
          <a:xfrm>
            <a:off x="6492240" y="1737360"/>
            <a:ext cx="640080" cy="556870"/>
          </a:xfrm>
          <a:prstGeom prst="hexagon">
            <a:avLst/>
          </a:prstGeom>
          <a:solidFill>
            <a:schemeClr val="accent4"/>
          </a:solidFill>
          <a:ln w="12700">
            <a:solidFill>
              <a:schemeClr val="accent4"/>
            </a:solidFill>
            <a:prstDash val="solid"/>
          </a:ln>
        </p:spPr>
      </p:sp>
      <p:sp>
        <p:nvSpPr>
          <p:cNvPr id="15" name="hex-label-216"/>
          <p:cNvSpPr txBox="1"/>
          <p:nvPr/>
        </p:nvSpPr>
        <p:spPr>
          <a:xfrm>
            <a:off x="6492240" y="1737360"/>
            <a:ext cx="640080" cy="55687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217"/>
          <p:cNvSpPr txBox="1"/>
          <p:nvPr/>
        </p:nvSpPr>
        <p:spPr>
          <a:xfrm>
            <a:off x="6492240" y="2377440"/>
            <a:ext cx="2148840" cy="411480"/>
          </a:xfrm>
          <a:prstGeom prst="rect">
            <a:avLst/>
          </a:prstGeom>
          <a:noFill/>
          <a:ln/>
        </p:spPr>
        <p:txBody>
          <a:bodyPr wrap="square" lIns="0" tIns="0" rIns="0" bIns="0" rtlCol="0" anchor="t"/>
          <a:lstStyle/>
          <a:p>
            <a:pPr indent="0" marL="0">
              <a:buNone/>
            </a:pPr>
            <a:r>
              <a:rPr lang="en-US" sz="1800" b="1" dirty="0">
                <a:solidFill>
                  <a:schemeClr val="bg1"/>
                </a:solidFill>
              </a:rPr>
              <a:t>Attack Laptop B</a:t>
            </a:r>
            <a:endParaRPr lang="en-US" sz="1800" dirty="0"/>
          </a:p>
        </p:txBody>
      </p:sp>
      <p:sp>
        <p:nvSpPr>
          <p:cNvPr id="17" name="text-218"/>
          <p:cNvSpPr txBox="1"/>
          <p:nvPr/>
        </p:nvSpPr>
        <p:spPr>
          <a:xfrm>
            <a:off x="6492240" y="2788920"/>
            <a:ext cx="2148840" cy="548640"/>
          </a:xfrm>
          <a:prstGeom prst="rect">
            <a:avLst/>
          </a:prstGeom>
          <a:noFill/>
          <a:ln/>
        </p:spPr>
        <p:txBody>
          <a:bodyPr wrap="square" lIns="0" tIns="0" rIns="0" bIns="0" rtlCol="0" anchor="t"/>
          <a:lstStyle/>
          <a:p>
            <a:pPr indent="0" marL="0">
              <a:buNone/>
            </a:pPr>
            <a:r>
              <a:rPr lang="en-US" sz="1400" dirty="0">
                <a:solidFill>
                  <a:schemeClr val="bg2"/>
                </a:solidFill>
              </a:rPr>
              <a:t>second report: Laptop A is now immune</a:t>
            </a:r>
            <a:endParaRPr lang="en-US" sz="1400" dirty="0"/>
          </a:p>
        </p:txBody>
      </p:sp>
      <p:sp>
        <p:nvSpPr>
          <p:cNvPr id="18" name="card-219"/>
          <p:cNvSpPr/>
          <p:nvPr/>
        </p:nvSpPr>
        <p:spPr>
          <a:xfrm>
            <a:off x="9052560" y="1463040"/>
            <a:ext cx="2606040" cy="1965960"/>
          </a:xfrm>
          <a:prstGeom prst="roundRect">
            <a:avLst>
              <a:gd name="adj" fmla="val 5581"/>
            </a:avLst>
          </a:prstGeom>
          <a:solidFill>
            <a:schemeClr val="tx2"/>
          </a:solidFill>
          <a:ln w="12700">
            <a:solidFill>
              <a:schemeClr val="tx2"/>
            </a:solidFill>
            <a:prstDash val="solid"/>
          </a:ln>
        </p:spPr>
      </p:sp>
      <p:sp>
        <p:nvSpPr>
          <p:cNvPr id="19" name="hex-220"/>
          <p:cNvSpPr/>
          <p:nvPr/>
        </p:nvSpPr>
        <p:spPr>
          <a:xfrm>
            <a:off x="9326880" y="1737360"/>
            <a:ext cx="640080" cy="556870"/>
          </a:xfrm>
          <a:prstGeom prst="hexagon">
            <a:avLst/>
          </a:prstGeom>
          <a:solidFill>
            <a:schemeClr val="accent4"/>
          </a:solidFill>
          <a:ln w="12700">
            <a:solidFill>
              <a:schemeClr val="accent4"/>
            </a:solidFill>
            <a:prstDash val="solid"/>
          </a:ln>
        </p:spPr>
      </p:sp>
      <p:sp>
        <p:nvSpPr>
          <p:cNvPr id="20" name="hex-label-221"/>
          <p:cNvSpPr txBox="1"/>
          <p:nvPr/>
        </p:nvSpPr>
        <p:spPr>
          <a:xfrm>
            <a:off x="9326880" y="1737360"/>
            <a:ext cx="640080" cy="55687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222"/>
          <p:cNvSpPr txBox="1"/>
          <p:nvPr/>
        </p:nvSpPr>
        <p:spPr>
          <a:xfrm>
            <a:off x="9326880" y="2377440"/>
            <a:ext cx="2148840" cy="411480"/>
          </a:xfrm>
          <a:prstGeom prst="rect">
            <a:avLst/>
          </a:prstGeom>
          <a:noFill/>
          <a:ln/>
        </p:spPr>
        <p:txBody>
          <a:bodyPr wrap="square" lIns="0" tIns="0" rIns="0" bIns="0" rtlCol="0" anchor="t"/>
          <a:lstStyle/>
          <a:p>
            <a:pPr indent="0" marL="0">
              <a:buNone/>
            </a:pPr>
            <a:r>
              <a:rPr lang="en-US" sz="1800" b="1" dirty="0">
                <a:solidFill>
                  <a:schemeClr val="bg1"/>
                </a:solidFill>
              </a:rPr>
              <a:t>Attack Laptop A</a:t>
            </a:r>
            <a:endParaRPr lang="en-US" sz="1800" dirty="0"/>
          </a:p>
        </p:txBody>
      </p:sp>
      <p:sp>
        <p:nvSpPr>
          <p:cNvPr id="22" name="text-223"/>
          <p:cNvSpPr txBox="1"/>
          <p:nvPr/>
        </p:nvSpPr>
        <p:spPr>
          <a:xfrm>
            <a:off x="9326880" y="2788920"/>
            <a:ext cx="2148840" cy="548640"/>
          </a:xfrm>
          <a:prstGeom prst="rect">
            <a:avLst/>
          </a:prstGeom>
          <a:noFill/>
          <a:ln/>
        </p:spPr>
        <p:txBody>
          <a:bodyPr wrap="square" lIns="0" tIns="0" rIns="0" bIns="0" rtlCol="0" anchor="t"/>
          <a:lstStyle/>
          <a:p>
            <a:pPr indent="0" marL="0">
              <a:buNone/>
            </a:pPr>
            <a:r>
              <a:rPr lang="en-US" sz="1400" dirty="0">
                <a:solidFill>
                  <a:schemeClr val="bg2"/>
                </a:solidFill>
              </a:rPr>
              <a:t>blocked on the very first packet</a:t>
            </a:r>
            <a:endParaRPr lang="en-US" sz="1400" dirty="0"/>
          </a:p>
        </p:txBody>
      </p:sp>
      <p:sp>
        <p:nvSpPr>
          <p:cNvPr id="23" name="card-224"/>
          <p:cNvSpPr/>
          <p:nvPr/>
        </p:nvSpPr>
        <p:spPr>
          <a:xfrm>
            <a:off x="548640" y="3703320"/>
            <a:ext cx="2606040" cy="1965960"/>
          </a:xfrm>
          <a:prstGeom prst="roundRect">
            <a:avLst>
              <a:gd name="adj" fmla="val 5581"/>
            </a:avLst>
          </a:prstGeom>
          <a:solidFill>
            <a:schemeClr val="tx2"/>
          </a:solidFill>
          <a:ln w="12700">
            <a:solidFill>
              <a:schemeClr val="tx2"/>
            </a:solidFill>
            <a:prstDash val="solid"/>
          </a:ln>
        </p:spPr>
      </p:sp>
      <p:sp>
        <p:nvSpPr>
          <p:cNvPr id="24" name="hex-225"/>
          <p:cNvSpPr/>
          <p:nvPr/>
        </p:nvSpPr>
        <p:spPr>
          <a:xfrm>
            <a:off x="822960" y="3977640"/>
            <a:ext cx="640080" cy="556870"/>
          </a:xfrm>
          <a:prstGeom prst="hexagon">
            <a:avLst/>
          </a:prstGeom>
          <a:solidFill>
            <a:schemeClr val="accent3"/>
          </a:solidFill>
          <a:ln w="12700">
            <a:solidFill>
              <a:schemeClr val="accent3"/>
            </a:solidFill>
            <a:prstDash val="solid"/>
          </a:ln>
        </p:spPr>
      </p:sp>
      <p:sp>
        <p:nvSpPr>
          <p:cNvPr id="25" name="hex-label-226"/>
          <p:cNvSpPr txBox="1"/>
          <p:nvPr/>
        </p:nvSpPr>
        <p:spPr>
          <a:xfrm>
            <a:off x="822960" y="3977640"/>
            <a:ext cx="640080" cy="55687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text-227"/>
          <p:cNvSpPr txBox="1"/>
          <p:nvPr/>
        </p:nvSpPr>
        <p:spPr>
          <a:xfrm>
            <a:off x="822960" y="4617720"/>
            <a:ext cx="2148840" cy="411480"/>
          </a:xfrm>
          <a:prstGeom prst="rect">
            <a:avLst/>
          </a:prstGeom>
          <a:noFill/>
          <a:ln/>
        </p:spPr>
        <p:txBody>
          <a:bodyPr wrap="square" lIns="0" tIns="0" rIns="0" bIns="0" rtlCol="0" anchor="t"/>
          <a:lstStyle/>
          <a:p>
            <a:pPr indent="0" marL="0">
              <a:buNone/>
            </a:pPr>
            <a:r>
              <a:rPr lang="en-US" sz="1800" b="1" dirty="0">
                <a:solidFill>
                  <a:schemeClr val="bg1"/>
                </a:solidFill>
              </a:rPr>
              <a:t>Infect Wi-Fi bulb</a:t>
            </a:r>
            <a:endParaRPr lang="en-US" sz="1800" dirty="0"/>
          </a:p>
        </p:txBody>
      </p:sp>
      <p:sp>
        <p:nvSpPr>
          <p:cNvPr id="27" name="text-228"/>
          <p:cNvSpPr txBox="1"/>
          <p:nvPr/>
        </p:nvSpPr>
        <p:spPr>
          <a:xfrm>
            <a:off x="822960" y="5029200"/>
            <a:ext cx="2148840" cy="548640"/>
          </a:xfrm>
          <a:prstGeom prst="rect">
            <a:avLst/>
          </a:prstGeom>
          <a:noFill/>
          <a:ln/>
        </p:spPr>
        <p:txBody>
          <a:bodyPr wrap="square" lIns="0" tIns="0" rIns="0" bIns="0" rtlCol="0" anchor="t"/>
          <a:lstStyle/>
          <a:p>
            <a:pPr indent="0" marL="0">
              <a:buNone/>
            </a:pPr>
            <a:r>
              <a:rPr lang="en-US" sz="1400" dirty="0">
                <a:solidFill>
                  <a:schemeClr val="bg2"/>
                </a:solidFill>
              </a:rPr>
              <a:t>the router isolates it</a:t>
            </a:r>
            <a:endParaRPr lang="en-US" sz="1400" dirty="0"/>
          </a:p>
        </p:txBody>
      </p:sp>
      <p:sp>
        <p:nvSpPr>
          <p:cNvPr id="28" name="card-229"/>
          <p:cNvSpPr/>
          <p:nvPr/>
        </p:nvSpPr>
        <p:spPr>
          <a:xfrm>
            <a:off x="3383280" y="3703320"/>
            <a:ext cx="2606040" cy="1965960"/>
          </a:xfrm>
          <a:prstGeom prst="roundRect">
            <a:avLst>
              <a:gd name="adj" fmla="val 5581"/>
            </a:avLst>
          </a:prstGeom>
          <a:solidFill>
            <a:schemeClr val="tx2"/>
          </a:solidFill>
          <a:ln w="12700">
            <a:solidFill>
              <a:schemeClr val="tx2"/>
            </a:solidFill>
            <a:prstDash val="solid"/>
          </a:ln>
        </p:spPr>
      </p:sp>
      <p:sp>
        <p:nvSpPr>
          <p:cNvPr id="29" name="hex-230"/>
          <p:cNvSpPr/>
          <p:nvPr/>
        </p:nvSpPr>
        <p:spPr>
          <a:xfrm>
            <a:off x="3657600" y="3977640"/>
            <a:ext cx="640080" cy="556870"/>
          </a:xfrm>
          <a:prstGeom prst="hexagon">
            <a:avLst/>
          </a:prstGeom>
          <a:solidFill>
            <a:schemeClr val="accent6"/>
          </a:solidFill>
          <a:ln w="12700">
            <a:solidFill>
              <a:schemeClr val="accent6"/>
            </a:solidFill>
            <a:prstDash val="solid"/>
          </a:ln>
        </p:spPr>
      </p:sp>
      <p:sp>
        <p:nvSpPr>
          <p:cNvPr id="30" name="hex-label-231"/>
          <p:cNvSpPr txBox="1"/>
          <p:nvPr/>
        </p:nvSpPr>
        <p:spPr>
          <a:xfrm>
            <a:off x="3657600" y="3977640"/>
            <a:ext cx="640080" cy="55687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text-232"/>
          <p:cNvSpPr txBox="1"/>
          <p:nvPr/>
        </p:nvSpPr>
        <p:spPr>
          <a:xfrm>
            <a:off x="3657600" y="4617720"/>
            <a:ext cx="2148840" cy="411480"/>
          </a:xfrm>
          <a:prstGeom prst="rect">
            <a:avLst/>
          </a:prstGeom>
          <a:noFill/>
          <a:ln/>
        </p:spPr>
        <p:txBody>
          <a:bodyPr wrap="square" lIns="0" tIns="0" rIns="0" bIns="0" rtlCol="0" anchor="t"/>
          <a:lstStyle/>
          <a:p>
            <a:pPr indent="0" marL="0">
              <a:buNone/>
            </a:pPr>
            <a:r>
              <a:rPr lang="en-US" sz="1800" b="1" dirty="0">
                <a:solidFill>
                  <a:schemeClr val="bg1"/>
                </a:solidFill>
              </a:rPr>
              <a:t>Infect BLE bulb</a:t>
            </a:r>
            <a:endParaRPr lang="en-US" sz="1800" dirty="0"/>
          </a:p>
        </p:txBody>
      </p:sp>
      <p:sp>
        <p:nvSpPr>
          <p:cNvPr id="32" name="text-233"/>
          <p:cNvSpPr txBox="1"/>
          <p:nvPr/>
        </p:nvSpPr>
        <p:spPr>
          <a:xfrm>
            <a:off x="3657600" y="5029200"/>
            <a:ext cx="2148840" cy="548640"/>
          </a:xfrm>
          <a:prstGeom prst="rect">
            <a:avLst/>
          </a:prstGeom>
          <a:noFill/>
          <a:ln/>
        </p:spPr>
        <p:txBody>
          <a:bodyPr wrap="square" lIns="0" tIns="0" rIns="0" bIns="0" rtlCol="0" anchor="t"/>
          <a:lstStyle/>
          <a:p>
            <a:pPr indent="0" marL="0">
              <a:buNone/>
            </a:pPr>
            <a:r>
              <a:rPr lang="en-US" sz="1400" dirty="0">
                <a:solidFill>
                  <a:schemeClr val="bg2"/>
                </a:solidFill>
              </a:rPr>
              <a:t>the Bluetooth hub cuts it off</a:t>
            </a:r>
            <a:endParaRPr lang="en-US" sz="1400" dirty="0"/>
          </a:p>
        </p:txBody>
      </p:sp>
      <p:sp>
        <p:nvSpPr>
          <p:cNvPr id="33" name="card-234"/>
          <p:cNvSpPr/>
          <p:nvPr/>
        </p:nvSpPr>
        <p:spPr>
          <a:xfrm>
            <a:off x="6217920" y="3703320"/>
            <a:ext cx="2606040" cy="1965960"/>
          </a:xfrm>
          <a:prstGeom prst="roundRect">
            <a:avLst>
              <a:gd name="adj" fmla="val 5581"/>
            </a:avLst>
          </a:prstGeom>
          <a:solidFill>
            <a:schemeClr val="tx2"/>
          </a:solidFill>
          <a:ln w="12700">
            <a:solidFill>
              <a:schemeClr val="tx2"/>
            </a:solidFill>
            <a:prstDash val="solid"/>
          </a:ln>
        </p:spPr>
      </p:sp>
      <p:sp>
        <p:nvSpPr>
          <p:cNvPr id="34" name="hex-235"/>
          <p:cNvSpPr/>
          <p:nvPr/>
        </p:nvSpPr>
        <p:spPr>
          <a:xfrm>
            <a:off x="6492240" y="3977640"/>
            <a:ext cx="640080" cy="556870"/>
          </a:xfrm>
          <a:prstGeom prst="hexagon">
            <a:avLst/>
          </a:prstGeom>
          <a:solidFill>
            <a:schemeClr val="accent1"/>
          </a:solidFill>
          <a:ln w="12700">
            <a:solidFill>
              <a:schemeClr val="accent1"/>
            </a:solidFill>
            <a:prstDash val="solid"/>
          </a:ln>
        </p:spPr>
      </p:sp>
      <p:sp>
        <p:nvSpPr>
          <p:cNvPr id="35" name="hex-label-236"/>
          <p:cNvSpPr txBox="1"/>
          <p:nvPr/>
        </p:nvSpPr>
        <p:spPr>
          <a:xfrm>
            <a:off x="6492240" y="3977640"/>
            <a:ext cx="640080" cy="556870"/>
          </a:xfrm>
          <a:prstGeom prst="rect">
            <a:avLst/>
          </a:prstGeom>
          <a:noFill/>
          <a:ln/>
        </p:spPr>
        <p:txBody>
          <a:bodyPr wrap="square" lIns="0" tIns="0" rIns="0" bIns="0" rtlCol="0" anchor="ctr"/>
          <a:lstStyle/>
          <a:p>
            <a:pPr algn="ctr" indent="0" marL="0">
              <a:buNone/>
            </a:pPr>
            <a:r>
              <a:rPr lang="en-US" sz="1800" b="1" dirty="0">
                <a:solidFill>
                  <a:schemeClr val="tx1"/>
                </a:solidFill>
              </a:rPr>
              <a:t>7</a:t>
            </a:r>
            <a:endParaRPr lang="en-US" sz="1800" dirty="0"/>
          </a:p>
        </p:txBody>
      </p:sp>
      <p:sp>
        <p:nvSpPr>
          <p:cNvPr id="36" name="text-237"/>
          <p:cNvSpPr txBox="1"/>
          <p:nvPr/>
        </p:nvSpPr>
        <p:spPr>
          <a:xfrm>
            <a:off x="6492240" y="4617720"/>
            <a:ext cx="2148840" cy="411480"/>
          </a:xfrm>
          <a:prstGeom prst="rect">
            <a:avLst/>
          </a:prstGeom>
          <a:noFill/>
          <a:ln/>
        </p:spPr>
        <p:txBody>
          <a:bodyPr wrap="square" lIns="0" tIns="0" rIns="0" bIns="0" rtlCol="0" anchor="t"/>
          <a:lstStyle/>
          <a:p>
            <a:pPr indent="0" marL="0">
              <a:buNone/>
            </a:pPr>
            <a:r>
              <a:rPr lang="en-US" sz="1800" b="1" dirty="0">
                <a:solidFill>
                  <a:schemeClr val="bg1"/>
                </a:solidFill>
              </a:rPr>
              <a:t>Attack the cure</a:t>
            </a:r>
            <a:endParaRPr lang="en-US" sz="1800" dirty="0"/>
          </a:p>
        </p:txBody>
      </p:sp>
      <p:sp>
        <p:nvSpPr>
          <p:cNvPr id="37" name="text-238"/>
          <p:cNvSpPr txBox="1"/>
          <p:nvPr/>
        </p:nvSpPr>
        <p:spPr>
          <a:xfrm>
            <a:off x="6492240" y="5029200"/>
            <a:ext cx="2148840" cy="548640"/>
          </a:xfrm>
          <a:prstGeom prst="rect">
            <a:avLst/>
          </a:prstGeom>
          <a:noFill/>
          <a:ln/>
        </p:spPr>
        <p:txBody>
          <a:bodyPr wrap="square" lIns="0" tIns="0" rIns="0" bIns="0" rtlCol="0" anchor="t"/>
          <a:lstStyle/>
          <a:p>
            <a:pPr indent="0" marL="0">
              <a:buNone/>
            </a:pPr>
            <a:r>
              <a:rPr lang="en-US" sz="1400" dirty="0">
                <a:solidFill>
                  <a:schemeClr val="bg2"/>
                </a:solidFill>
              </a:rPr>
              <a:t>every poisoned vaccine rejected</a:t>
            </a:r>
            <a:endParaRPr lang="en-US" sz="1400" dirty="0"/>
          </a:p>
        </p:txBody>
      </p:sp>
      <p:sp>
        <p:nvSpPr>
          <p:cNvPr id="38" name="card-239"/>
          <p:cNvSpPr/>
          <p:nvPr/>
        </p:nvSpPr>
        <p:spPr>
          <a:xfrm>
            <a:off x="9052560" y="3703320"/>
            <a:ext cx="2606040" cy="1965960"/>
          </a:xfrm>
          <a:prstGeom prst="roundRect">
            <a:avLst>
              <a:gd name="adj" fmla="val 5581"/>
            </a:avLst>
          </a:prstGeom>
          <a:solidFill>
            <a:schemeClr val="tx2"/>
          </a:solidFill>
          <a:ln w="12700">
            <a:solidFill>
              <a:schemeClr val="tx2"/>
            </a:solidFill>
            <a:prstDash val="solid"/>
          </a:ln>
        </p:spPr>
      </p:sp>
      <p:sp>
        <p:nvSpPr>
          <p:cNvPr id="39" name="hex-240"/>
          <p:cNvSpPr/>
          <p:nvPr/>
        </p:nvSpPr>
        <p:spPr>
          <a:xfrm>
            <a:off x="9326880" y="3977640"/>
            <a:ext cx="640080" cy="556870"/>
          </a:xfrm>
          <a:prstGeom prst="hexagon">
            <a:avLst/>
          </a:prstGeom>
          <a:solidFill>
            <a:schemeClr val="accent2"/>
          </a:solidFill>
          <a:ln w="12700">
            <a:solidFill>
              <a:schemeClr val="accent2"/>
            </a:solidFill>
            <a:prstDash val="solid"/>
          </a:ln>
        </p:spPr>
      </p:sp>
      <p:sp>
        <p:nvSpPr>
          <p:cNvPr id="40" name="hex-label-241"/>
          <p:cNvSpPr txBox="1"/>
          <p:nvPr/>
        </p:nvSpPr>
        <p:spPr>
          <a:xfrm>
            <a:off x="9326880" y="3977640"/>
            <a:ext cx="640080" cy="556870"/>
          </a:xfrm>
          <a:prstGeom prst="rect">
            <a:avLst/>
          </a:prstGeom>
          <a:noFill/>
          <a:ln/>
        </p:spPr>
        <p:txBody>
          <a:bodyPr wrap="square" lIns="0" tIns="0" rIns="0" bIns="0" rtlCol="0" anchor="ctr"/>
          <a:lstStyle/>
          <a:p>
            <a:pPr algn="ctr" indent="0" marL="0">
              <a:buNone/>
            </a:pPr>
            <a:r>
              <a:rPr lang="en-US" sz="1800" b="1" dirty="0">
                <a:solidFill>
                  <a:schemeClr val="tx1"/>
                </a:solidFill>
              </a:rPr>
              <a:t>8</a:t>
            </a:r>
            <a:endParaRPr lang="en-US" sz="1800" dirty="0"/>
          </a:p>
        </p:txBody>
      </p:sp>
      <p:sp>
        <p:nvSpPr>
          <p:cNvPr id="41" name="text-242"/>
          <p:cNvSpPr txBox="1"/>
          <p:nvPr/>
        </p:nvSpPr>
        <p:spPr>
          <a:xfrm>
            <a:off x="9326880" y="4617720"/>
            <a:ext cx="2148840" cy="411480"/>
          </a:xfrm>
          <a:prstGeom prst="rect">
            <a:avLst/>
          </a:prstGeom>
          <a:noFill/>
          <a:ln/>
        </p:spPr>
        <p:txBody>
          <a:bodyPr wrap="square" lIns="0" tIns="0" rIns="0" bIns="0" rtlCol="0" anchor="t"/>
          <a:lstStyle/>
          <a:p>
            <a:pPr indent="0" marL="0">
              <a:buNone/>
            </a:pPr>
            <a:r>
              <a:rPr lang="en-US" sz="1800" b="1" dirty="0">
                <a:solidFill>
                  <a:schemeClr val="bg1"/>
                </a:solidFill>
              </a:rPr>
              <a:t>Reset</a:t>
            </a:r>
            <a:endParaRPr lang="en-US" sz="1800" dirty="0"/>
          </a:p>
        </p:txBody>
      </p:sp>
      <p:sp>
        <p:nvSpPr>
          <p:cNvPr id="42" name="text-243"/>
          <p:cNvSpPr txBox="1"/>
          <p:nvPr/>
        </p:nvSpPr>
        <p:spPr>
          <a:xfrm>
            <a:off x="9326880" y="5029200"/>
            <a:ext cx="2148840" cy="548640"/>
          </a:xfrm>
          <a:prstGeom prst="rect">
            <a:avLst/>
          </a:prstGeom>
          <a:noFill/>
          <a:ln/>
        </p:spPr>
        <p:txBody>
          <a:bodyPr wrap="square" lIns="0" tIns="0" rIns="0" bIns="0" rtlCol="0" anchor="t"/>
          <a:lstStyle/>
          <a:p>
            <a:pPr indent="0" marL="0">
              <a:buNone/>
            </a:pPr>
            <a:r>
              <a:rPr lang="en-US" sz="1400" dirty="0">
                <a:solidFill>
                  <a:schemeClr val="bg2"/>
                </a:solidFill>
              </a:rPr>
              <a:t>everything heals, nothing restarted</a:t>
            </a:r>
            <a:endParaRPr lang="en-US" sz="1400" dirty="0"/>
          </a:p>
        </p:txBody>
      </p:sp>
      <p:sp>
        <p:nvSpPr>
          <p:cNvPr id="43" name="text-244"/>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400" dirty="0">
                <a:solidFill>
                  <a:schemeClr val="accent5"/>
                </a:solidFill>
              </a:rPr>
              <a:t>Real ESP32 + Raspberry Pi 5 + laptop on a phone hotspot · about 3 minutes · no internet needed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99B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It works on real hardware</a:t>
            </a:r>
            <a:endParaRPr lang="en-US" sz="3600" dirty="0"/>
          </a:p>
        </p:txBody>
      </p:sp>
      <p:pic>
        <p:nvPicPr>
          <p:cNvPr id="3" name="screenshot-245" descr="Live dashboard during the demo on real devices">    </p:cNvPr>
          <p:cNvPicPr>
            <a:picLocks noChangeAspect="1"/>
          </p:cNvPicPr>
          <p:nvPr/>
        </p:nvPicPr>
        <p:blipFill>
          <a:blip r:embed="rId1"/>
          <a:stretch>
            <a:fillRect/>
          </a:stretch>
        </p:blipFill>
        <p:spPr>
          <a:xfrm>
            <a:off x="548640" y="1417320"/>
            <a:ext cx="6766560" cy="3803904"/>
          </a:xfrm>
          <a:prstGeom prst="rect">
            <a:avLst/>
          </a:prstGeom>
        </p:spPr>
      </p:pic>
      <p:sp>
        <p:nvSpPr>
          <p:cNvPr id="4" name="text-246"/>
          <p:cNvSpPr txBox="1"/>
          <p:nvPr/>
        </p:nvSpPr>
        <p:spPr>
          <a:xfrm>
            <a:off x="548640" y="5349240"/>
            <a:ext cx="6766560" cy="320040"/>
          </a:xfrm>
          <a:prstGeom prst="rect">
            <a:avLst/>
          </a:prstGeom>
          <a:noFill/>
          <a:ln/>
        </p:spPr>
        <p:txBody>
          <a:bodyPr wrap="square" lIns="0" tIns="0" rIns="0" bIns="0" rtlCol="0" anchor="t"/>
          <a:lstStyle/>
          <a:p>
            <a:pPr indent="0" marL="0">
              <a:buNone/>
            </a:pPr>
            <a:r>
              <a:rPr lang="en-US" sz="1200" dirty="0">
                <a:solidFill>
                  <a:schemeClr val="accent5"/>
                </a:solidFill>
              </a:rPr>
              <a:t>The live dashboard, mid-demo, on real devices</a:t>
            </a:r>
            <a:endParaRPr lang="en-US" sz="1200" dirty="0"/>
          </a:p>
        </p:txBody>
      </p:sp>
      <p:sp>
        <p:nvSpPr>
          <p:cNvPr id="5" name="text-247"/>
          <p:cNvSpPr txBox="1"/>
          <p:nvPr/>
        </p:nvSpPr>
        <p:spPr>
          <a:xfrm>
            <a:off x="7680960" y="1417320"/>
            <a:ext cx="1920240" cy="777240"/>
          </a:xfrm>
          <a:prstGeom prst="rect">
            <a:avLst/>
          </a:prstGeom>
          <a:noFill/>
          <a:ln/>
        </p:spPr>
        <p:txBody>
          <a:bodyPr wrap="square" lIns="0" tIns="0" rIns="0" bIns="0" rtlCol="0" anchor="ctr"/>
          <a:lstStyle/>
          <a:p>
            <a:pPr indent="0" marL="0">
              <a:buNone/>
            </a:pPr>
            <a:r>
              <a:rPr lang="en-US" sz="2800" b="1" dirty="0">
                <a:solidFill>
                  <a:schemeClr val="accent1"/>
                </a:solidFill>
              </a:rPr>
              <a:t>~1.5 s</a:t>
            </a:r>
            <a:endParaRPr lang="en-US" sz="2800" dirty="0"/>
          </a:p>
        </p:txBody>
      </p:sp>
      <p:sp>
        <p:nvSpPr>
          <p:cNvPr id="6" name="text-248"/>
          <p:cNvSpPr txBox="1"/>
          <p:nvPr/>
        </p:nvSpPr>
        <p:spPr>
          <a:xfrm>
            <a:off x="9601200" y="1417320"/>
            <a:ext cx="2011680" cy="777240"/>
          </a:xfrm>
          <a:prstGeom prst="rect">
            <a:avLst/>
          </a:prstGeom>
          <a:noFill/>
          <a:ln/>
        </p:spPr>
        <p:txBody>
          <a:bodyPr wrap="square" lIns="0" tIns="0" rIns="0" bIns="0" rtlCol="0" anchor="ctr"/>
          <a:lstStyle/>
          <a:p>
            <a:pPr indent="0" marL="0">
              <a:buNone/>
            </a:pPr>
            <a:r>
              <a:rPr lang="en-US" sz="1500" dirty="0">
                <a:solidFill>
                  <a:schemeClr val="bg2"/>
                </a:solidFill>
              </a:rPr>
              <a:t>the ESP32 detects, isolates and vaccinates</a:t>
            </a:r>
            <a:endParaRPr lang="en-US" sz="1500" dirty="0"/>
          </a:p>
        </p:txBody>
      </p:sp>
      <p:sp>
        <p:nvSpPr>
          <p:cNvPr id="7" name="text-249"/>
          <p:cNvSpPr txBox="1"/>
          <p:nvPr/>
        </p:nvSpPr>
        <p:spPr>
          <a:xfrm>
            <a:off x="7680960" y="2395728"/>
            <a:ext cx="1920240" cy="777240"/>
          </a:xfrm>
          <a:prstGeom prst="rect">
            <a:avLst/>
          </a:prstGeom>
          <a:noFill/>
          <a:ln/>
        </p:spPr>
        <p:txBody>
          <a:bodyPr wrap="square" lIns="0" tIns="0" rIns="0" bIns="0" rtlCol="0" anchor="ctr"/>
          <a:lstStyle/>
          <a:p>
            <a:pPr indent="0" marL="0">
              <a:buNone/>
            </a:pPr>
            <a:r>
              <a:rPr lang="en-US" sz="2800" b="1" dirty="0">
                <a:solidFill>
                  <a:schemeClr val="accent1"/>
                </a:solidFill>
              </a:rPr>
              <a:t>~6 s</a:t>
            </a:r>
            <a:endParaRPr lang="en-US" sz="2800" dirty="0"/>
          </a:p>
        </p:txBody>
      </p:sp>
      <p:sp>
        <p:nvSpPr>
          <p:cNvPr id="8" name="text-250"/>
          <p:cNvSpPr txBox="1"/>
          <p:nvPr/>
        </p:nvSpPr>
        <p:spPr>
          <a:xfrm>
            <a:off x="9601200" y="2395728"/>
            <a:ext cx="2011680" cy="777240"/>
          </a:xfrm>
          <a:prstGeom prst="rect">
            <a:avLst/>
          </a:prstGeom>
          <a:noFill/>
          <a:ln/>
        </p:spPr>
        <p:txBody>
          <a:bodyPr wrap="square" lIns="0" tIns="0" rIns="0" bIns="0" rtlCol="0" anchor="ctr"/>
          <a:lstStyle/>
          <a:p>
            <a:pPr indent="0" marL="0">
              <a:buNone/>
            </a:pPr>
            <a:r>
              <a:rPr lang="en-US" sz="1500" dirty="0">
                <a:solidFill>
                  <a:schemeClr val="bg2"/>
                </a:solidFill>
              </a:rPr>
              <a:t>until every device is immune</a:t>
            </a:r>
            <a:endParaRPr lang="en-US" sz="1500" dirty="0"/>
          </a:p>
        </p:txBody>
      </p:sp>
      <p:sp>
        <p:nvSpPr>
          <p:cNvPr id="9" name="text-251"/>
          <p:cNvSpPr txBox="1"/>
          <p:nvPr/>
        </p:nvSpPr>
        <p:spPr>
          <a:xfrm>
            <a:off x="7680960" y="3374136"/>
            <a:ext cx="1920240" cy="777240"/>
          </a:xfrm>
          <a:prstGeom prst="rect">
            <a:avLst/>
          </a:prstGeom>
          <a:noFill/>
          <a:ln/>
        </p:spPr>
        <p:txBody>
          <a:bodyPr wrap="square" lIns="0" tIns="0" rIns="0" bIns="0" rtlCol="0" anchor="ctr"/>
          <a:lstStyle/>
          <a:p>
            <a:pPr indent="0" marL="0">
              <a:buNone/>
            </a:pPr>
            <a:r>
              <a:rPr lang="en-US" sz="2800" b="1" dirty="0">
                <a:solidFill>
                  <a:schemeClr val="accent1"/>
                </a:solidFill>
              </a:rPr>
              <a:t>1st packet</a:t>
            </a:r>
            <a:endParaRPr lang="en-US" sz="2800" dirty="0"/>
          </a:p>
        </p:txBody>
      </p:sp>
      <p:sp>
        <p:nvSpPr>
          <p:cNvPr id="10" name="text-252"/>
          <p:cNvSpPr txBox="1"/>
          <p:nvPr/>
        </p:nvSpPr>
        <p:spPr>
          <a:xfrm>
            <a:off x="9601200" y="3374136"/>
            <a:ext cx="2011680" cy="777240"/>
          </a:xfrm>
          <a:prstGeom prst="rect">
            <a:avLst/>
          </a:prstGeom>
          <a:noFill/>
          <a:ln/>
        </p:spPr>
        <p:txBody>
          <a:bodyPr wrap="square" lIns="0" tIns="0" rIns="0" bIns="0" rtlCol="0" anchor="ctr"/>
          <a:lstStyle/>
          <a:p>
            <a:pPr indent="0" marL="0">
              <a:buNone/>
            </a:pPr>
            <a:r>
              <a:rPr lang="en-US" sz="1500" dirty="0">
                <a:solidFill>
                  <a:schemeClr val="bg2"/>
                </a:solidFill>
              </a:rPr>
              <a:t>blocked on a device that was warned</a:t>
            </a:r>
            <a:endParaRPr lang="en-US" sz="1500" dirty="0"/>
          </a:p>
        </p:txBody>
      </p:sp>
      <p:sp>
        <p:nvSpPr>
          <p:cNvPr id="11" name="text-253"/>
          <p:cNvSpPr txBox="1"/>
          <p:nvPr/>
        </p:nvSpPr>
        <p:spPr>
          <a:xfrm>
            <a:off x="7680960" y="4352544"/>
            <a:ext cx="1920240" cy="777240"/>
          </a:xfrm>
          <a:prstGeom prst="rect">
            <a:avLst/>
          </a:prstGeom>
          <a:noFill/>
          <a:ln/>
        </p:spPr>
        <p:txBody>
          <a:bodyPr wrap="square" lIns="0" tIns="0" rIns="0" bIns="0" rtlCol="0" anchor="ctr"/>
          <a:lstStyle/>
          <a:p>
            <a:pPr indent="0" marL="0">
              <a:buNone/>
            </a:pPr>
            <a:r>
              <a:rPr lang="en-US" sz="2800" b="1" dirty="0">
                <a:solidFill>
                  <a:schemeClr val="accent1"/>
                </a:solidFill>
              </a:rPr>
              <a:t>6 / 6</a:t>
            </a:r>
            <a:endParaRPr lang="en-US" sz="2800" dirty="0"/>
          </a:p>
        </p:txBody>
      </p:sp>
      <p:sp>
        <p:nvSpPr>
          <p:cNvPr id="12" name="text-254"/>
          <p:cNvSpPr txBox="1"/>
          <p:nvPr/>
        </p:nvSpPr>
        <p:spPr>
          <a:xfrm>
            <a:off x="9601200" y="4352544"/>
            <a:ext cx="2011680" cy="777240"/>
          </a:xfrm>
          <a:prstGeom prst="rect">
            <a:avLst/>
          </a:prstGeom>
          <a:noFill/>
          <a:ln/>
        </p:spPr>
        <p:txBody>
          <a:bodyPr wrap="square" lIns="0" tIns="0" rIns="0" bIns="0" rtlCol="0" anchor="ctr"/>
          <a:lstStyle/>
          <a:p>
            <a:pPr indent="0" marL="0">
              <a:buNone/>
            </a:pPr>
            <a:r>
              <a:rPr lang="en-US" sz="1500" dirty="0">
                <a:solidFill>
                  <a:schemeClr val="bg2"/>
                </a:solidFill>
              </a:rPr>
              <a:t>kinds of poisoned vaccine rejected</a:t>
            </a:r>
            <a:endParaRPr lang="en-US" sz="1500" dirty="0"/>
          </a:p>
        </p:txBody>
      </p:sp>
      <p:sp>
        <p:nvSpPr>
          <p:cNvPr id="13" name="text-255"/>
          <p:cNvSpPr txBox="1"/>
          <p:nvPr/>
        </p:nvSpPr>
        <p:spPr>
          <a:xfrm>
            <a:off x="7680960" y="5440680"/>
            <a:ext cx="3931920" cy="731520"/>
          </a:xfrm>
          <a:prstGeom prst="rect">
            <a:avLst/>
          </a:prstGeom>
          <a:noFill/>
          <a:ln/>
        </p:spPr>
        <p:txBody>
          <a:bodyPr wrap="square" lIns="0" tIns="0" rIns="0" bIns="0" rtlCol="0" anchor="t"/>
          <a:lstStyle/>
          <a:p>
            <a:pPr indent="0" marL="0">
              <a:buNone/>
            </a:pPr>
            <a:r>
              <a:rPr lang="en-US" sz="1300" dirty="0">
                <a:solidFill>
                  <a:schemeClr val="accent5"/>
                </a:solidFill>
              </a:rPr>
              <a:t>Real hardware testing also found and fixed a firmware flaw: one oversized packet could silence the ESP32.</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99B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bg1"/>
                </a:solidFill>
              </a:rPr>
              <a:t>What's new, what isn't, what's next</a:t>
            </a:r>
            <a:endParaRPr lang="en-US" sz="3600" dirty="0"/>
          </a:p>
        </p:txBody>
      </p:sp>
      <p:sp>
        <p:nvSpPr>
          <p:cNvPr id="3" name="card-256"/>
          <p:cNvSpPr/>
          <p:nvPr/>
        </p:nvSpPr>
        <p:spPr>
          <a:xfrm>
            <a:off x="548640" y="1417320"/>
            <a:ext cx="3474720" cy="3429000"/>
          </a:xfrm>
          <a:prstGeom prst="roundRect">
            <a:avLst>
              <a:gd name="adj" fmla="val 3200"/>
            </a:avLst>
          </a:prstGeom>
          <a:solidFill>
            <a:schemeClr val="tx2"/>
          </a:solidFill>
          <a:ln w="12700">
            <a:solidFill>
              <a:schemeClr val="tx2"/>
            </a:solidFill>
            <a:prstDash val="solid"/>
          </a:ln>
        </p:spPr>
      </p:sp>
      <p:sp>
        <p:nvSpPr>
          <p:cNvPr id="4" name="text-257"/>
          <p:cNvSpPr txBox="1"/>
          <p:nvPr/>
        </p:nvSpPr>
        <p:spPr>
          <a:xfrm>
            <a:off x="868680" y="1645920"/>
            <a:ext cx="2834640" cy="502920"/>
          </a:xfrm>
          <a:prstGeom prst="rect">
            <a:avLst/>
          </a:prstGeom>
          <a:noFill/>
          <a:ln/>
        </p:spPr>
        <p:txBody>
          <a:bodyPr wrap="square" lIns="0" tIns="0" rIns="0" bIns="0" rtlCol="0" anchor="t"/>
          <a:lstStyle/>
          <a:p>
            <a:pPr indent="0" marL="0">
              <a:buNone/>
            </a:pPr>
            <a:r>
              <a:rPr lang="en-US" sz="2400" b="1" dirty="0">
                <a:solidFill>
                  <a:schemeClr val="accent5"/>
                </a:solidFill>
              </a:rPr>
              <a:t>Not new</a:t>
            </a:r>
            <a:endParaRPr lang="en-US" sz="2400" dirty="0"/>
          </a:p>
        </p:txBody>
      </p:sp>
      <p:sp>
        <p:nvSpPr>
          <p:cNvPr id="5" name="text-258"/>
          <p:cNvSpPr txBox="1"/>
          <p:nvPr/>
        </p:nvSpPr>
        <p:spPr>
          <a:xfrm>
            <a:off x="868680" y="2286000"/>
            <a:ext cx="283464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2"/>
                </a:solidFill>
              </a:rPr>
              <a:t>Learning normal behaviour and quarantining devices at network level (Darktrace, Firewalla, IoT Sentinel)</a:t>
            </a:r>
            <a:endParaRPr lang="en-US" sz="1600" dirty="0"/>
          </a:p>
        </p:txBody>
      </p:sp>
      <p:sp>
        <p:nvSpPr>
          <p:cNvPr id="6" name="card-259"/>
          <p:cNvSpPr/>
          <p:nvPr/>
        </p:nvSpPr>
        <p:spPr>
          <a:xfrm>
            <a:off x="4343400" y="1417320"/>
            <a:ext cx="3474720" cy="3429000"/>
          </a:xfrm>
          <a:prstGeom prst="roundRect">
            <a:avLst>
              <a:gd name="adj" fmla="val 3200"/>
            </a:avLst>
          </a:prstGeom>
          <a:solidFill>
            <a:schemeClr val="tx2"/>
          </a:solidFill>
          <a:ln w="12700">
            <a:solidFill>
              <a:schemeClr val="tx2"/>
            </a:solidFill>
            <a:prstDash val="solid"/>
          </a:ln>
        </p:spPr>
      </p:sp>
      <p:sp>
        <p:nvSpPr>
          <p:cNvPr id="7" name="text-260"/>
          <p:cNvSpPr txBox="1"/>
          <p:nvPr/>
        </p:nvSpPr>
        <p:spPr>
          <a:xfrm>
            <a:off x="4663440" y="1645920"/>
            <a:ext cx="2834640" cy="502920"/>
          </a:xfrm>
          <a:prstGeom prst="rect">
            <a:avLst/>
          </a:prstGeom>
          <a:noFill/>
          <a:ln/>
        </p:spPr>
        <p:txBody>
          <a:bodyPr wrap="square" lIns="0" tIns="0" rIns="0" bIns="0" rtlCol="0" anchor="t"/>
          <a:lstStyle/>
          <a:p>
            <a:pPr indent="0" marL="0">
              <a:buNone/>
            </a:pPr>
            <a:r>
              <a:rPr lang="en-US" sz="2400" b="1" dirty="0">
                <a:solidFill>
                  <a:schemeClr val="accent1"/>
                </a:solidFill>
              </a:rPr>
              <a:t>New</a:t>
            </a:r>
            <a:endParaRPr lang="en-US" sz="2400" dirty="0"/>
          </a:p>
        </p:txBody>
      </p:sp>
      <p:sp>
        <p:nvSpPr>
          <p:cNvPr id="8" name="text-261"/>
          <p:cNvSpPr txBox="1"/>
          <p:nvPr/>
        </p:nvSpPr>
        <p:spPr>
          <a:xfrm>
            <a:off x="4663440" y="2286000"/>
            <a:ext cx="283464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2"/>
                </a:solidFill>
              </a:rPr>
              <a:t>The immune system lives inside cheap devices</a:t>
            </a:r>
            <a:endParaRPr lang="en-US" sz="1600" dirty="0"/>
          </a:p>
          <a:p>
            <a:pPr marL="342900" indent="-342900">
              <a:spcAft>
                <a:spcPts val="800"/>
              </a:spcAft>
              <a:buSzPct val="100000"/>
              <a:buChar char="•"/>
            </a:pPr>
            <a:r>
              <a:rPr lang="en-US" sz="1600" dirty="0">
                <a:solidFill>
                  <a:schemeClr val="bg2"/>
                </a:solidFill>
              </a:rPr>
              <a:t>Devices vaccinate each other peer-to-peer, offline</a:t>
            </a:r>
            <a:endParaRPr lang="en-US" sz="1600" dirty="0"/>
          </a:p>
          <a:p>
            <a:pPr marL="342900" indent="-342900">
              <a:spcAft>
                <a:spcPts val="800"/>
              </a:spcAft>
              <a:buSzPct val="100000"/>
              <a:buChar char="•"/>
            </a:pPr>
            <a:r>
              <a:rPr lang="en-US" sz="1600" dirty="0">
                <a:solidFill>
                  <a:schemeClr val="bg2"/>
                </a:solidFill>
              </a:rPr>
              <a:t>Vaccines are poison-proof</a:t>
            </a:r>
            <a:endParaRPr lang="en-US" sz="1600" dirty="0"/>
          </a:p>
          <a:p>
            <a:pPr marL="342900" indent="-342900">
              <a:spcAft>
                <a:spcPts val="800"/>
              </a:spcAft>
              <a:buSzPct val="100000"/>
              <a:buChar char="•"/>
            </a:pPr>
            <a:r>
              <a:rPr lang="en-US" sz="1600" dirty="0">
                <a:solidFill>
                  <a:schemeClr val="bg2"/>
                </a:solidFill>
              </a:rPr>
              <a:t>One system covers smart, Wi-Fi and Bluetooth devices</a:t>
            </a:r>
            <a:endParaRPr lang="en-US" sz="1600" dirty="0"/>
          </a:p>
        </p:txBody>
      </p:sp>
      <p:sp>
        <p:nvSpPr>
          <p:cNvPr id="9" name="card-262"/>
          <p:cNvSpPr/>
          <p:nvPr/>
        </p:nvSpPr>
        <p:spPr>
          <a:xfrm>
            <a:off x="8138160" y="1417320"/>
            <a:ext cx="3474720" cy="3429000"/>
          </a:xfrm>
          <a:prstGeom prst="roundRect">
            <a:avLst>
              <a:gd name="adj" fmla="val 3200"/>
            </a:avLst>
          </a:prstGeom>
          <a:solidFill>
            <a:schemeClr val="tx2"/>
          </a:solidFill>
          <a:ln w="12700">
            <a:solidFill>
              <a:schemeClr val="tx2"/>
            </a:solidFill>
            <a:prstDash val="solid"/>
          </a:ln>
        </p:spPr>
      </p:sp>
      <p:sp>
        <p:nvSpPr>
          <p:cNvPr id="10" name="text-263"/>
          <p:cNvSpPr txBox="1"/>
          <p:nvPr/>
        </p:nvSpPr>
        <p:spPr>
          <a:xfrm>
            <a:off x="8458200" y="1645920"/>
            <a:ext cx="2834640" cy="502920"/>
          </a:xfrm>
          <a:prstGeom prst="rect">
            <a:avLst/>
          </a:prstGeom>
          <a:noFill/>
          <a:ln/>
        </p:spPr>
        <p:txBody>
          <a:bodyPr wrap="square" lIns="0" tIns="0" rIns="0" bIns="0" rtlCol="0" anchor="t"/>
          <a:lstStyle/>
          <a:p>
            <a:pPr indent="0" marL="0">
              <a:buNone/>
            </a:pPr>
            <a:r>
              <a:rPr lang="en-US" sz="2400" b="1" dirty="0">
                <a:solidFill>
                  <a:schemeClr val="accent4"/>
                </a:solidFill>
              </a:rPr>
              <a:t>Next</a:t>
            </a:r>
            <a:endParaRPr lang="en-US" sz="2400" dirty="0"/>
          </a:p>
        </p:txBody>
      </p:sp>
      <p:sp>
        <p:nvSpPr>
          <p:cNvPr id="11" name="text-264"/>
          <p:cNvSpPr txBox="1"/>
          <p:nvPr/>
        </p:nvSpPr>
        <p:spPr>
          <a:xfrm>
            <a:off x="8458200" y="2286000"/>
            <a:ext cx="2834640" cy="24688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2"/>
                </a:solidFill>
              </a:rPr>
              <a:t>OpenWrt router package</a:t>
            </a:r>
            <a:endParaRPr lang="en-US" sz="1600" dirty="0"/>
          </a:p>
          <a:p>
            <a:pPr marL="342900" indent="-342900">
              <a:spcAft>
                <a:spcPts val="800"/>
              </a:spcAft>
              <a:buSzPct val="100000"/>
              <a:buChar char="•"/>
            </a:pPr>
            <a:r>
              <a:rPr lang="en-US" sz="1600" dirty="0">
                <a:solidFill>
                  <a:schemeClr val="bg2"/>
                </a:solidFill>
              </a:rPr>
              <a:t>On-chip keys and secure boot</a:t>
            </a:r>
            <a:endParaRPr lang="en-US" sz="1600" dirty="0"/>
          </a:p>
          <a:p>
            <a:pPr marL="342900" indent="-342900">
              <a:spcAft>
                <a:spcPts val="800"/>
              </a:spcAft>
              <a:buSzPct val="100000"/>
              <a:buChar char="•"/>
            </a:pPr>
            <a:r>
              <a:rPr lang="en-US" sz="1600" dirty="0">
                <a:solidFill>
                  <a:schemeClr val="bg2"/>
                </a:solidFill>
              </a:rPr>
              <a:t>Bluetooth bonding as identity</a:t>
            </a:r>
            <a:endParaRPr lang="en-US" sz="1600" dirty="0"/>
          </a:p>
          <a:p>
            <a:pPr marL="342900" indent="-342900">
              <a:spcAft>
                <a:spcPts val="800"/>
              </a:spcAft>
              <a:buSzPct val="100000"/>
              <a:buChar char="•"/>
            </a:pPr>
            <a:r>
              <a:rPr lang="en-US" sz="1600" dirty="0">
                <a:solidFill>
                  <a:schemeClr val="bg2"/>
                </a:solidFill>
              </a:rPr>
              <a:t>Federated model updates</a:t>
            </a:r>
            <a:endParaRPr lang="en-US" sz="1600" dirty="0"/>
          </a:p>
          <a:p>
            <a:pPr marL="342900" indent="-342900">
              <a:spcAft>
                <a:spcPts val="800"/>
              </a:spcAft>
              <a:buSzPct val="100000"/>
              <a:buChar char="•"/>
            </a:pPr>
            <a:r>
              <a:rPr lang="en-US" sz="1600" dirty="0">
                <a:solidFill>
                  <a:schemeClr val="bg2"/>
                </a:solidFill>
              </a:rPr>
              <a:t>Neighbourhood-wide vaccine sharing</a:t>
            </a:r>
            <a:endParaRPr lang="en-US" sz="1600" dirty="0"/>
          </a:p>
        </p:txBody>
      </p:sp>
      <p:sp>
        <p:nvSpPr>
          <p:cNvPr id="12" name="card-265"/>
          <p:cNvSpPr/>
          <p:nvPr/>
        </p:nvSpPr>
        <p:spPr>
          <a:xfrm>
            <a:off x="548640" y="5120640"/>
            <a:ext cx="11064240" cy="868680"/>
          </a:xfrm>
          <a:prstGeom prst="roundRect">
            <a:avLst>
              <a:gd name="adj" fmla="val 12632"/>
            </a:avLst>
          </a:prstGeom>
          <a:solidFill>
            <a:schemeClr val="tx2"/>
          </a:solidFill>
          <a:ln w="12700">
            <a:solidFill>
              <a:schemeClr val="tx2"/>
            </a:solidFill>
            <a:prstDash val="solid"/>
          </a:ln>
        </p:spPr>
      </p:sp>
      <p:sp>
        <p:nvSpPr>
          <p:cNvPr id="13" name="hex-266"/>
          <p:cNvSpPr/>
          <p:nvPr/>
        </p:nvSpPr>
        <p:spPr>
          <a:xfrm>
            <a:off x="777240" y="5257800"/>
            <a:ext cx="685800" cy="596646"/>
          </a:xfrm>
          <a:prstGeom prst="hexagon">
            <a:avLst/>
          </a:prstGeom>
          <a:solidFill>
            <a:schemeClr val="accent3"/>
          </a:solidFill>
          <a:ln w="12700">
            <a:solidFill>
              <a:schemeClr val="accent3"/>
            </a:solidFill>
            <a:prstDash val="solid"/>
          </a:ln>
        </p:spPr>
      </p:sp>
      <p:sp>
        <p:nvSpPr>
          <p:cNvPr id="14" name="hex-label-267"/>
          <p:cNvSpPr txBox="1"/>
          <p:nvPr/>
        </p:nvSpPr>
        <p:spPr>
          <a:xfrm>
            <a:off x="777240" y="5257800"/>
            <a:ext cx="685800" cy="596646"/>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5" name="text-268"/>
          <p:cNvSpPr txBox="1"/>
          <p:nvPr/>
        </p:nvSpPr>
        <p:spPr>
          <a:xfrm>
            <a:off x="1691640" y="5120640"/>
            <a:ext cx="9692640" cy="868680"/>
          </a:xfrm>
          <a:prstGeom prst="rect">
            <a:avLst/>
          </a:prstGeom>
          <a:noFill/>
          <a:ln/>
        </p:spPr>
        <p:txBody>
          <a:bodyPr wrap="square" lIns="0" tIns="0" rIns="0" bIns="0" rtlCol="0" anchor="ctr"/>
          <a:lstStyle/>
          <a:p>
            <a:pPr indent="0" marL="0">
              <a:buNone/>
            </a:pPr>
            <a:r>
              <a:rPr lang="en-US" sz="1500" b="1" dirty="0">
                <a:solidFill>
                  <a:schemeClr val="bg1"/>
                </a:solidFill>
              </a:rPr>
              <a:t>Honest limits: </a:t>
            </a:r>
            <a:pPr indent="0" marL="0">
              <a:buNone/>
            </a:pPr>
            <a:r>
              <a:rPr lang="en-US" sz="1500" dirty="0">
                <a:solidFill>
                  <a:schemeClr val="bg2"/>
                </a:solidFill>
              </a:rPr>
              <a:t>it contains infected devices rather than cleaning them, careful mimicry can slip through, and the demo signs with shared HMAC keys and identifies senders by IP.</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E99B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400800" cy="1371600"/>
          </a:xfrm>
          <a:prstGeom prst="rect">
            <a:avLst/>
          </a:prstGeom>
          <a:noFill/>
          <a:ln/>
        </p:spPr>
        <p:txBody>
          <a:bodyPr wrap="square" lIns="0" tIns="0" rIns="0" bIns="0" rtlCol="0" anchor="b"/>
          <a:lstStyle/>
          <a:p>
            <a:pPr indent="0" marL="0">
              <a:buNone/>
            </a:pPr>
            <a:r>
              <a:rPr lang="en-US" sz="8000" b="1" dirty="0">
                <a:solidFill>
                  <a:schemeClr val="bg1"/>
                </a:solidFill>
              </a:rPr>
              <a:t>Hive</a:t>
            </a:r>
            <a:endParaRPr lang="en-US" sz="8000" dirty="0"/>
          </a:p>
        </p:txBody>
      </p:sp>
      <p:sp>
        <p:nvSpPr>
          <p:cNvPr id="3" name="Text 0"/>
          <p:cNvSpPr/>
          <p:nvPr>
            <p:ph idx="101" type="body" hasCustomPrompt="1"/>
          </p:nvPr>
        </p:nvSpPr>
        <p:spPr>
          <a:xfrm>
            <a:off x="731520" y="3246120"/>
            <a:ext cx="6400800" cy="1188720"/>
          </a:xfrm>
          <a:prstGeom prst="rect">
            <a:avLst/>
          </a:prstGeom>
          <a:noFill/>
          <a:ln/>
        </p:spPr>
        <p:txBody>
          <a:bodyPr wrap="square" lIns="0" tIns="0" rIns="0" bIns="0" rtlCol="0" anchor="t"/>
          <a:lstStyle/>
          <a:p>
            <a:pPr indent="0" marL="0">
              <a:buNone/>
            </a:pPr>
            <a:r>
              <a:rPr lang="en-US" sz="2800" dirty="0">
                <a:solidFill>
                  <a:schemeClr val="bg2"/>
                </a:solidFill>
              </a:rPr>
              <a:t>Big companies buy an immune system for their network. We put one inside every tiny device.</a:t>
            </a:r>
            <a:endParaRPr lang="en-US" sz="2800" dirty="0"/>
          </a:p>
        </p:txBody>
      </p:sp>
      <p:sp>
        <p:nvSpPr>
          <p:cNvPr id="4" name="text-269"/>
          <p:cNvSpPr txBox="1"/>
          <p:nvPr/>
        </p:nvSpPr>
        <p:spPr>
          <a:xfrm>
            <a:off x="731520" y="4983480"/>
            <a:ext cx="6583680" cy="411480"/>
          </a:xfrm>
          <a:prstGeom prst="rect">
            <a:avLst/>
          </a:prstGeom>
          <a:noFill/>
          <a:ln/>
        </p:spPr>
        <p:txBody>
          <a:bodyPr wrap="square" lIns="0" tIns="0" rIns="0" bIns="0" rtlCol="0" anchor="t"/>
          <a:lstStyle/>
          <a:p>
            <a:pPr indent="0" marL="0">
              <a:buNone/>
            </a:pPr>
            <a:r>
              <a:rPr lang="en-US" sz="1800" b="1" dirty="0">
                <a:solidFill>
                  <a:schemeClr val="accent1"/>
                </a:solidFill>
              </a:rPr>
              <a:t>github.com/prayag-1771/Hive-Immunity-System</a:t>
            </a:r>
            <a:endParaRPr lang="en-US" sz="1800" dirty="0"/>
          </a:p>
        </p:txBody>
      </p:sp>
      <p:sp>
        <p:nvSpPr>
          <p:cNvPr id="5" name="text-270"/>
          <p:cNvSpPr txBox="1"/>
          <p:nvPr/>
        </p:nvSpPr>
        <p:spPr>
          <a:xfrm>
            <a:off x="731520" y="5440680"/>
            <a:ext cx="6583680" cy="365760"/>
          </a:xfrm>
          <a:prstGeom prst="rect">
            <a:avLst/>
          </a:prstGeom>
          <a:noFill/>
          <a:ln/>
        </p:spPr>
        <p:txBody>
          <a:bodyPr wrap="square" lIns="0" tIns="0" rIns="0" bIns="0" rtlCol="0" anchor="t"/>
          <a:lstStyle/>
          <a:p>
            <a:pPr indent="0" marL="0">
              <a:buNone/>
            </a:pPr>
            <a:r>
              <a:rPr lang="en-US" sz="1600" dirty="0">
                <a:solidFill>
                  <a:schemeClr val="accent5"/>
                </a:solidFill>
              </a:rPr>
              <a:t>Open source (MIT) · open model weights · runs fully offline</a:t>
            </a:r>
            <a:endParaRPr lang="en-US" sz="1600" dirty="0"/>
          </a:p>
        </p:txBody>
      </p:sp>
      <p:sp>
        <p:nvSpPr>
          <p:cNvPr id="6" name="hex-271"/>
          <p:cNvSpPr/>
          <p:nvPr/>
        </p:nvSpPr>
        <p:spPr>
          <a:xfrm>
            <a:off x="8549640" y="1463040"/>
            <a:ext cx="1737360" cy="1511503"/>
          </a:xfrm>
          <a:prstGeom prst="hexagon">
            <a:avLst/>
          </a:prstGeom>
          <a:solidFill>
            <a:schemeClr val="accent1"/>
          </a:solidFill>
          <a:ln w="12700">
            <a:solidFill>
              <a:schemeClr val="accent1"/>
            </a:solidFill>
            <a:prstDash val="solid"/>
          </a:ln>
        </p:spPr>
      </p:sp>
      <p:sp>
        <p:nvSpPr>
          <p:cNvPr id="7" name="hex-label-272"/>
          <p:cNvSpPr txBox="1"/>
          <p:nvPr/>
        </p:nvSpPr>
        <p:spPr>
          <a:xfrm>
            <a:off x="8549640" y="1463040"/>
            <a:ext cx="1737360" cy="1511503"/>
          </a:xfrm>
          <a:prstGeom prst="rect">
            <a:avLst/>
          </a:prstGeom>
          <a:noFill/>
          <a:ln/>
        </p:spPr>
        <p:txBody>
          <a:bodyPr wrap="square" lIns="0" tIns="0" rIns="0" bIns="0" rtlCol="0" anchor="ctr"/>
          <a:lstStyle/>
          <a:p>
            <a:pPr algn="ctr" indent="0" marL="0">
              <a:buNone/>
            </a:pPr>
            <a:r>
              <a:rPr lang="en-US" sz="2200" b="1" dirty="0">
                <a:solidFill>
                  <a:schemeClr val="tx1"/>
                </a:solidFill>
              </a:rPr>
              <a:t>Thank</a:t>
            </a:r>
            <a:endParaRPr lang="en-US" sz="2200" dirty="0"/>
          </a:p>
        </p:txBody>
      </p:sp>
      <p:sp>
        <p:nvSpPr>
          <p:cNvPr id="8" name="hex-273"/>
          <p:cNvSpPr/>
          <p:nvPr/>
        </p:nvSpPr>
        <p:spPr>
          <a:xfrm>
            <a:off x="10058400" y="2331720"/>
            <a:ext cx="1737360" cy="1511503"/>
          </a:xfrm>
          <a:prstGeom prst="hexagon">
            <a:avLst/>
          </a:prstGeom>
          <a:solidFill>
            <a:schemeClr val="tx2"/>
          </a:solidFill>
          <a:ln w="12700">
            <a:solidFill>
              <a:schemeClr val="tx2"/>
            </a:solidFill>
            <a:prstDash val="solid"/>
          </a:ln>
        </p:spPr>
      </p:sp>
      <p:sp>
        <p:nvSpPr>
          <p:cNvPr id="9" name="hex-label-274"/>
          <p:cNvSpPr txBox="1"/>
          <p:nvPr/>
        </p:nvSpPr>
        <p:spPr>
          <a:xfrm>
            <a:off x="10058400" y="2331720"/>
            <a:ext cx="1737360" cy="1511503"/>
          </a:xfrm>
          <a:prstGeom prst="rect">
            <a:avLst/>
          </a:prstGeom>
          <a:noFill/>
          <a:ln/>
        </p:spPr>
        <p:txBody>
          <a:bodyPr wrap="square" lIns="0" tIns="0" rIns="0" bIns="0" rtlCol="0" anchor="ctr"/>
          <a:lstStyle/>
          <a:p>
            <a:pPr algn="ctr" indent="0" marL="0">
              <a:buNone/>
            </a:pPr>
            <a:r>
              <a:rPr lang="en-US" sz="2200" b="1" dirty="0">
                <a:solidFill>
                  <a:schemeClr val="bg1"/>
                </a:solidFill>
              </a:rPr>
              <a:t>you</a:t>
            </a:r>
            <a:endParaRPr lang="en-US" sz="2200" dirty="0"/>
          </a:p>
        </p:txBody>
      </p:sp>
      <p:sp>
        <p:nvSpPr>
          <p:cNvPr id="10" name="hex-275"/>
          <p:cNvSpPr/>
          <p:nvPr/>
        </p:nvSpPr>
        <p:spPr>
          <a:xfrm>
            <a:off x="8549640" y="3200400"/>
            <a:ext cx="1737360" cy="1511503"/>
          </a:xfrm>
          <a:prstGeom prst="hexagon">
            <a:avLst/>
          </a:prstGeom>
          <a:solidFill>
            <a:schemeClr val="accent2"/>
          </a:solidFill>
          <a:ln w="12700">
            <a:solidFill>
              <a:schemeClr val="accent2"/>
            </a:solidFill>
            <a:prstDash val="solid"/>
          </a:ln>
        </p:spPr>
      </p:sp>
      <p:sp>
        <p:nvSpPr>
          <p:cNvPr id="11" name="hex-label-276"/>
          <p:cNvSpPr txBox="1"/>
          <p:nvPr/>
        </p:nvSpPr>
        <p:spPr>
          <a:xfrm>
            <a:off x="8549640" y="3200400"/>
            <a:ext cx="1737360" cy="1511503"/>
          </a:xfrm>
          <a:prstGeom prst="rect">
            <a:avLst/>
          </a:prstGeom>
          <a:noFill/>
          <a:ln/>
        </p:spPr>
        <p:txBody>
          <a:bodyPr wrap="square" lIns="0" tIns="0" rIns="0" bIns="0" rtlCol="0" anchor="ctr"/>
          <a:lstStyle/>
          <a:p>
            <a:pPr algn="ctr" indent="0" marL="0">
              <a:buNone/>
            </a:pPr>
            <a:r>
              <a:rPr lang="en-US" sz="2200" b="1" dirty="0">
                <a:solidFill>
                  <a:schemeClr val="tx1"/>
                </a:solidFill>
              </a:rPr>
              <a:t>Q&amp;A</a:t>
            </a:r>
            <a:endParaRPr lang="en-US" sz="2200" dirty="0"/>
          </a:p>
        </p:txBody>
      </p:sp>
    </p:spTree>
  </p:cSld>
  <p:clrMapOvr>
    <a:masterClrMapping/>
  </p:clrMapOvr>
</p:sld>
</file>

<file path=ppt/theme/theme1.xml><?xml version="1.0" encoding="utf-8"?>
<a:theme xmlns:a="http://schemas.openxmlformats.org/drawingml/2006/main" name="Hive">
  <a:themeElements>
    <a:clrScheme name="Hive">
      <a:dk1>
        <a:srgbClr val="0B1020"/>
      </a:dk1>
      <a:lt1>
        <a:srgbClr val="FFFFFF"/>
      </a:lt1>
      <a:dk2>
        <a:srgbClr val="18223C"/>
      </a:dk2>
      <a:lt2>
        <a:srgbClr val="C9D2EA"/>
      </a:lt2>
      <a:accent1>
        <a:srgbClr val="F59E0B"/>
      </a:accent1>
      <a:accent2>
        <a:srgbClr val="22C55E"/>
      </a:accent2>
      <a:accent3>
        <a:srgbClr val="EF4444"/>
      </a:accent3>
      <a:accent4>
        <a:srgbClr val="3B82F6"/>
      </a:accent4>
      <a:accent5>
        <a:srgbClr val="8E99B8"/>
      </a:accent5>
      <a:accent6>
        <a:srgbClr val="A855F7"/>
      </a:accent6>
      <a:hlink>
        <a:srgbClr val="F59E0B"/>
      </a:hlink>
      <a:folHlink>
        <a:srgbClr val="FBBF24"/>
      </a:folHlink>
    </a:clrScheme>
    <a:fontScheme name="Hiv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Hive Immunity System</dc:title>
  <dc:subject>Hackathon pitch</dc:subject>
  <dc:creator>PptxGenJS</dc:creator>
  <cp:lastModifiedBy>PptxGenJS</cp:lastModifiedBy>
  <cp:revision>1</cp:revision>
  <dcterms:created xsi:type="dcterms:W3CDTF">2026-10-03T20:27:47Z</dcterms:created>
  <dcterms:modified xsi:type="dcterms:W3CDTF">2026-10-03T20:27:47Z</dcterms:modified>
</cp:coreProperties>
</file>